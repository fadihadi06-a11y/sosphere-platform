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5" Type="http://schemas.openxmlformats.org/officeDocument/2006/relationships/image" Target="../media/image-4-5.png"/><Relationship Id="rId6" Type="http://schemas.openxmlformats.org/officeDocument/2006/relationships/image" Target="../media/image-4-6.png"/><Relationship Id="rId7" Type="http://schemas.openxmlformats.org/officeDocument/2006/relationships/image" Target="../media/image-4-7.png"/><Relationship Id="rId8" Type="http://schemas.openxmlformats.org/officeDocument/2006/relationships/image" Target="../media/image-4-8.png"/><Relationship Id="rId9" Type="http://schemas.openxmlformats.org/officeDocument/2006/relationships/slideLayout" Target="../slideLayouts/slideLayout1.xml"/><Relationship Id="rId10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image" Target="../media/image-5-4.png"/><Relationship Id="rId5" Type="http://schemas.openxmlformats.org/officeDocument/2006/relationships/image" Target="../media/image-5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image" Target="../media/image-6-3.png"/><Relationship Id="rId4" Type="http://schemas.openxmlformats.org/officeDocument/2006/relationships/image" Target="../media/image-6-4.png"/><Relationship Id="rId5" Type="http://schemas.openxmlformats.org/officeDocument/2006/relationships/image" Target="../media/image-6-5.png"/><Relationship Id="rId6" Type="http://schemas.openxmlformats.org/officeDocument/2006/relationships/image" Target="../media/image-6-6.png"/><Relationship Id="rId7" Type="http://schemas.openxmlformats.org/officeDocument/2006/relationships/image" Target="../media/image-6-7.png"/><Relationship Id="rId8" Type="http://schemas.openxmlformats.org/officeDocument/2006/relationships/image" Target="../media/image-6-8.png"/><Relationship Id="rId9" Type="http://schemas.openxmlformats.org/officeDocument/2006/relationships/image" Target="../media/image-6-9.png"/><Relationship Id="rId10" Type="http://schemas.openxmlformats.org/officeDocument/2006/relationships/image" Target="../media/image-6-10.png"/><Relationship Id="rId11" Type="http://schemas.openxmlformats.org/officeDocument/2006/relationships/slideLayout" Target="../slideLayouts/slideLayout1.xml"/><Relationship Id="rId1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image" Target="../media/image-8-3.png"/><Relationship Id="rId4" Type="http://schemas.openxmlformats.org/officeDocument/2006/relationships/image" Target="../media/image-8-4.png"/><Relationship Id="rId5" Type="http://schemas.openxmlformats.org/officeDocument/2006/relationships/image" Target="../media/image-8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image" Target="../media/image-9-3.png"/><Relationship Id="rId4" Type="http://schemas.openxmlformats.org/officeDocument/2006/relationships/image" Target="../media/image-9-4.png"/><Relationship Id="rId5" Type="http://schemas.openxmlformats.org/officeDocument/2006/relationships/image" Target="../media/image-9-5.png"/><Relationship Id="rId6" Type="http://schemas.openxmlformats.org/officeDocument/2006/relationships/image" Target="../media/image-9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image" Target="../media/image-10-3.png"/><Relationship Id="rId4" Type="http://schemas.openxmlformats.org/officeDocument/2006/relationships/image" Target="../media/image-10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image" Target="../media/image-11-2.png"/><Relationship Id="rId3" Type="http://schemas.openxmlformats.org/officeDocument/2006/relationships/image" Target="../media/image-11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21295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371600" y="3931920"/>
            <a:ext cx="2743200" cy="2743200"/>
          </a:xfrm>
          <a:prstGeom prst="ellipse">
            <a:avLst/>
          </a:prstGeom>
          <a:solidFill>
            <a:srgbClr val="065A82">
              <a:alpha val="50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7772400" y="-914400"/>
            <a:ext cx="2286000" cy="2286000"/>
          </a:xfrm>
          <a:prstGeom prst="ellipse">
            <a:avLst/>
          </a:prstGeom>
          <a:solidFill>
            <a:srgbClr val="1C7293">
              <a:alpha val="40000"/>
            </a:srgbClr>
          </a:solidFill>
          <a:ln/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114800" y="822960"/>
            <a:ext cx="914400" cy="91440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457200" y="1828800"/>
            <a:ext cx="8229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SOSphere</a:t>
            </a:r>
            <a:endParaRPr lang="en-US" sz="6400" dirty="0"/>
          </a:p>
        </p:txBody>
      </p:sp>
      <p:sp>
        <p:nvSpPr>
          <p:cNvPr id="6" name="Text 3"/>
          <p:cNvSpPr/>
          <p:nvPr/>
        </p:nvSpPr>
        <p:spPr>
          <a:xfrm>
            <a:off x="457200" y="274320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9FE7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Life-Safety Infrastructure for Field Workforces</a:t>
            </a:r>
            <a:endParaRPr lang="en-US" sz="2200" dirty="0"/>
          </a:p>
        </p:txBody>
      </p:sp>
      <p:sp>
        <p:nvSpPr>
          <p:cNvPr id="7" name="Text 4"/>
          <p:cNvSpPr/>
          <p:nvPr/>
        </p:nvSpPr>
        <p:spPr>
          <a:xfrm>
            <a:off x="457200" y="324612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panic-button to forensic chain — in under 8 seconds.</a:t>
            </a:r>
            <a:endParaRPr lang="en-US" sz="1600" dirty="0"/>
          </a:p>
        </p:txBody>
      </p:sp>
      <p:sp>
        <p:nvSpPr>
          <p:cNvPr id="8" name="Text 5"/>
          <p:cNvSpPr/>
          <p:nvPr/>
        </p:nvSpPr>
        <p:spPr>
          <a:xfrm>
            <a:off x="457200" y="457200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9FE7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Pre-launch · MENA · May 2026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732520" y="228600"/>
            <a:ext cx="164592" cy="164592"/>
          </a:xfrm>
          <a:prstGeom prst="ellipse">
            <a:avLst/>
          </a:prstGeom>
          <a:solidFill>
            <a:srgbClr val="065A82"/>
          </a:solidFill>
          <a:ln/>
        </p:spPr>
      </p:sp>
      <p:sp>
        <p:nvSpPr>
          <p:cNvPr id="3" name="Shape 1"/>
          <p:cNvSpPr/>
          <p:nvPr/>
        </p:nvSpPr>
        <p:spPr>
          <a:xfrm>
            <a:off x="8503920" y="228600"/>
            <a:ext cx="91440" cy="91440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4" name="Shape 2"/>
          <p:cNvSpPr/>
          <p:nvPr/>
        </p:nvSpPr>
        <p:spPr>
          <a:xfrm>
            <a:off x="8348472" y="228600"/>
            <a:ext cx="54864" cy="54864"/>
          </a:xfrm>
          <a:prstGeom prst="ellipse">
            <a:avLst/>
          </a:prstGeom>
          <a:solidFill>
            <a:srgbClr val="9FE7F5"/>
          </a:solidFill>
          <a:ln/>
        </p:spPr>
      </p:sp>
      <p:sp>
        <p:nvSpPr>
          <p:cNvPr id="5" name="Text 3"/>
          <p:cNvSpPr/>
          <p:nvPr/>
        </p:nvSpPr>
        <p:spPr>
          <a:xfrm>
            <a:off x="457200" y="274320"/>
            <a:ext cx="7772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When Seconds Matter, Field Workers Are Alone</a:t>
            </a:r>
            <a:endParaRPr lang="en-US" sz="3200" dirty="0"/>
          </a:p>
        </p:txBody>
      </p:sp>
      <p:sp>
        <p:nvSpPr>
          <p:cNvPr id="6" name="Text 4"/>
          <p:cNvSpPr/>
          <p:nvPr/>
        </p:nvSpPr>
        <p:spPr>
          <a:xfrm>
            <a:off x="457200" y="91440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Today's safety stack breaks at exactly the moment it must hold.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457200" y="1554480"/>
            <a:ext cx="2468880" cy="31089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6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1463040" y="1737360"/>
            <a:ext cx="457200" cy="457200"/>
          </a:xfrm>
          <a:prstGeom prst="ellipse">
            <a:avLst/>
          </a:prstGeom>
          <a:solidFill>
            <a:srgbClr val="21295C"/>
          </a:solidFill>
          <a:ln/>
        </p:spPr>
      </p:sp>
      <p:pic>
        <p:nvPicPr>
          <p:cNvPr id="9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554480" y="1828800"/>
            <a:ext cx="274320" cy="274320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457200" y="2331720"/>
            <a:ext cx="24688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67%</a:t>
            </a:r>
            <a:endParaRPr lang="en-US" sz="4000" dirty="0"/>
          </a:p>
        </p:txBody>
      </p:sp>
      <p:sp>
        <p:nvSpPr>
          <p:cNvPr id="11" name="Text 8"/>
          <p:cNvSpPr/>
          <p:nvPr/>
        </p:nvSpPr>
        <p:spPr>
          <a:xfrm>
            <a:off x="640080" y="3063240"/>
            <a:ext cx="21031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 workplace fatalities happen in remote operations.</a:t>
            </a:r>
            <a:endParaRPr lang="en-US" sz="1200" dirty="0"/>
          </a:p>
        </p:txBody>
      </p:sp>
      <p:sp>
        <p:nvSpPr>
          <p:cNvPr id="12" name="Text 9"/>
          <p:cNvSpPr/>
          <p:nvPr/>
        </p:nvSpPr>
        <p:spPr>
          <a:xfrm>
            <a:off x="640080" y="3977640"/>
            <a:ext cx="21031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Lone workers + delayed response = the deadly combo.</a:t>
            </a:r>
            <a:endParaRPr lang="en-US" sz="900" dirty="0"/>
          </a:p>
        </p:txBody>
      </p:sp>
      <p:sp>
        <p:nvSpPr>
          <p:cNvPr id="13" name="Shape 10"/>
          <p:cNvSpPr/>
          <p:nvPr/>
        </p:nvSpPr>
        <p:spPr>
          <a:xfrm>
            <a:off x="3337560" y="1554480"/>
            <a:ext cx="2468880" cy="31089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6000"/>
              </a:srgbClr>
            </a:outerShdw>
          </a:effectLst>
        </p:spPr>
      </p:sp>
      <p:sp>
        <p:nvSpPr>
          <p:cNvPr id="14" name="Shape 11"/>
          <p:cNvSpPr/>
          <p:nvPr/>
        </p:nvSpPr>
        <p:spPr>
          <a:xfrm>
            <a:off x="4343400" y="1737360"/>
            <a:ext cx="457200" cy="457200"/>
          </a:xfrm>
          <a:prstGeom prst="ellipse">
            <a:avLst/>
          </a:prstGeom>
          <a:solidFill>
            <a:srgbClr val="21295C"/>
          </a:solidFill>
          <a:ln/>
        </p:spPr>
      </p:sp>
      <p:pic>
        <p:nvPicPr>
          <p:cNvPr id="15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34840" y="1828800"/>
            <a:ext cx="274320" cy="274320"/>
          </a:xfrm>
          <a:prstGeom prst="rect">
            <a:avLst/>
          </a:prstGeom>
        </p:spPr>
      </p:pic>
      <p:sp>
        <p:nvSpPr>
          <p:cNvPr id="16" name="Text 12"/>
          <p:cNvSpPr/>
          <p:nvPr/>
        </p:nvSpPr>
        <p:spPr>
          <a:xfrm>
            <a:off x="3337560" y="2331720"/>
            <a:ext cx="24688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 min</a:t>
            </a:r>
            <a:endParaRPr lang="en-US" sz="4000" dirty="0"/>
          </a:p>
        </p:txBody>
      </p:sp>
      <p:sp>
        <p:nvSpPr>
          <p:cNvPr id="17" name="Text 13"/>
          <p:cNvSpPr/>
          <p:nvPr/>
        </p:nvSpPr>
        <p:spPr>
          <a:xfrm>
            <a:off x="3520440" y="3063240"/>
            <a:ext cx="21031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average emergency response time on remote sites.</a:t>
            </a:r>
            <a:endParaRPr lang="en-US" sz="1200" dirty="0"/>
          </a:p>
        </p:txBody>
      </p:sp>
      <p:sp>
        <p:nvSpPr>
          <p:cNvPr id="18" name="Text 14"/>
          <p:cNvSpPr/>
          <p:nvPr/>
        </p:nvSpPr>
        <p:spPr>
          <a:xfrm>
            <a:off x="3520440" y="3977640"/>
            <a:ext cx="21031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Time-to-acknowledgment is the leading mortality predictor.</a:t>
            </a:r>
            <a:endParaRPr lang="en-US" sz="900" dirty="0"/>
          </a:p>
        </p:txBody>
      </p:sp>
      <p:sp>
        <p:nvSpPr>
          <p:cNvPr id="19" name="Shape 15"/>
          <p:cNvSpPr/>
          <p:nvPr/>
        </p:nvSpPr>
        <p:spPr>
          <a:xfrm>
            <a:off x="6217920" y="1554480"/>
            <a:ext cx="2468880" cy="31089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6000"/>
              </a:srgbClr>
            </a:outerShdw>
          </a:effectLst>
        </p:spPr>
      </p:sp>
      <p:sp>
        <p:nvSpPr>
          <p:cNvPr id="20" name="Shape 16"/>
          <p:cNvSpPr/>
          <p:nvPr/>
        </p:nvSpPr>
        <p:spPr>
          <a:xfrm>
            <a:off x="7223760" y="1737360"/>
            <a:ext cx="457200" cy="457200"/>
          </a:xfrm>
          <a:prstGeom prst="ellipse">
            <a:avLst/>
          </a:prstGeom>
          <a:solidFill>
            <a:srgbClr val="21295C"/>
          </a:solidFill>
          <a:ln/>
        </p:spPr>
      </p:sp>
      <p:pic>
        <p:nvPicPr>
          <p:cNvPr id="21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15200" y="1828800"/>
            <a:ext cx="274320" cy="274320"/>
          </a:xfrm>
          <a:prstGeom prst="rect">
            <a:avLst/>
          </a:prstGeom>
        </p:spPr>
      </p:pic>
      <p:sp>
        <p:nvSpPr>
          <p:cNvPr id="22" name="Text 17"/>
          <p:cNvSpPr/>
          <p:nvPr/>
        </p:nvSpPr>
        <p:spPr>
          <a:xfrm>
            <a:off x="6217920" y="2331720"/>
            <a:ext cx="24688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40%</a:t>
            </a:r>
            <a:endParaRPr lang="en-US" sz="4000" dirty="0"/>
          </a:p>
        </p:txBody>
      </p:sp>
      <p:sp>
        <p:nvSpPr>
          <p:cNvPr id="23" name="Text 18"/>
          <p:cNvSpPr/>
          <p:nvPr/>
        </p:nvSpPr>
        <p:spPr>
          <a:xfrm>
            <a:off x="6400800" y="3063240"/>
            <a:ext cx="21031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 incidents lack any forensic audit trail.</a:t>
            </a:r>
            <a:endParaRPr lang="en-US" sz="1200" dirty="0"/>
          </a:p>
        </p:txBody>
      </p:sp>
      <p:sp>
        <p:nvSpPr>
          <p:cNvPr id="24" name="Text 19"/>
          <p:cNvSpPr/>
          <p:nvPr/>
        </p:nvSpPr>
        <p:spPr>
          <a:xfrm>
            <a:off x="6400800" y="3977640"/>
            <a:ext cx="21031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chain-of-custody → no insurance claim, no learning loop.</a:t>
            </a:r>
            <a:endParaRPr lang="en-US" sz="900" dirty="0"/>
          </a:p>
        </p:txBody>
      </p:sp>
      <p:sp>
        <p:nvSpPr>
          <p:cNvPr id="25" name="Text 20"/>
          <p:cNvSpPr/>
          <p:nvPr/>
        </p:nvSpPr>
        <p:spPr>
          <a:xfrm>
            <a:off x="457200" y="480060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Sources: BLS occupational injury data (2024) · OSHA case files · MENA OHS council 2025.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732520" y="228600"/>
            <a:ext cx="164592" cy="164592"/>
          </a:xfrm>
          <a:prstGeom prst="ellipse">
            <a:avLst/>
          </a:prstGeom>
          <a:solidFill>
            <a:srgbClr val="065A82"/>
          </a:solidFill>
          <a:ln/>
        </p:spPr>
      </p:sp>
      <p:sp>
        <p:nvSpPr>
          <p:cNvPr id="3" name="Shape 1"/>
          <p:cNvSpPr/>
          <p:nvPr/>
        </p:nvSpPr>
        <p:spPr>
          <a:xfrm>
            <a:off x="8503920" y="228600"/>
            <a:ext cx="91440" cy="91440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4" name="Shape 2"/>
          <p:cNvSpPr/>
          <p:nvPr/>
        </p:nvSpPr>
        <p:spPr>
          <a:xfrm>
            <a:off x="8348472" y="228600"/>
            <a:ext cx="54864" cy="54864"/>
          </a:xfrm>
          <a:prstGeom prst="ellipse">
            <a:avLst/>
          </a:prstGeom>
          <a:solidFill>
            <a:srgbClr val="9FE7F5"/>
          </a:solidFill>
          <a:ln/>
        </p:spPr>
      </p:sp>
      <p:sp>
        <p:nvSpPr>
          <p:cNvPr id="5" name="Text 3"/>
          <p:cNvSpPr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Cost of Doing Nothing</a:t>
            </a:r>
            <a:endParaRPr lang="en-US" sz="3200" dirty="0"/>
          </a:p>
        </p:txBody>
      </p:sp>
      <p:sp>
        <p:nvSpPr>
          <p:cNvPr id="6" name="Text 4"/>
          <p:cNvSpPr/>
          <p:nvPr/>
        </p:nvSpPr>
        <p:spPr>
          <a:xfrm>
            <a:off x="457200" y="91440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avoided incident pays for the platform many times over.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457200" y="1554480"/>
            <a:ext cx="3931920" cy="15087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457200" y="1554480"/>
            <a:ext cx="73152" cy="1508760"/>
          </a:xfrm>
          <a:prstGeom prst="rect">
            <a:avLst/>
          </a:prstGeom>
          <a:solidFill>
            <a:srgbClr val="DC2626"/>
          </a:solidFill>
          <a:ln/>
        </p:spPr>
      </p:sp>
      <p:sp>
        <p:nvSpPr>
          <p:cNvPr id="9" name="Text 7"/>
          <p:cNvSpPr/>
          <p:nvPr/>
        </p:nvSpPr>
        <p:spPr>
          <a:xfrm>
            <a:off x="731520" y="1691640"/>
            <a:ext cx="3657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$1.5M</a:t>
            </a:r>
            <a:endParaRPr lang="en-US" sz="4400" dirty="0"/>
          </a:p>
        </p:txBody>
      </p:sp>
      <p:sp>
        <p:nvSpPr>
          <p:cNvPr id="10" name="Text 8"/>
          <p:cNvSpPr/>
          <p:nvPr/>
        </p:nvSpPr>
        <p:spPr>
          <a:xfrm>
            <a:off x="731520" y="2331720"/>
            <a:ext cx="3657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average direct cost per workplace fatality (US OSHA, 2024).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4754880" y="1554480"/>
            <a:ext cx="3931920" cy="15087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4754880" y="1554480"/>
            <a:ext cx="73152" cy="1508760"/>
          </a:xfrm>
          <a:prstGeom prst="rect">
            <a:avLst/>
          </a:prstGeom>
          <a:solidFill>
            <a:srgbClr val="DC2626"/>
          </a:solidFill>
          <a:ln/>
        </p:spPr>
      </p:sp>
      <p:sp>
        <p:nvSpPr>
          <p:cNvPr id="13" name="Text 11"/>
          <p:cNvSpPr/>
          <p:nvPr/>
        </p:nvSpPr>
        <p:spPr>
          <a:xfrm>
            <a:off x="5029200" y="1691640"/>
            <a:ext cx="3657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14%</a:t>
            </a:r>
            <a:endParaRPr lang="en-US" sz="4400" dirty="0"/>
          </a:p>
        </p:txBody>
      </p:sp>
      <p:sp>
        <p:nvSpPr>
          <p:cNvPr id="14" name="Text 12"/>
          <p:cNvSpPr/>
          <p:nvPr/>
        </p:nvSpPr>
        <p:spPr>
          <a:xfrm>
            <a:off x="5029200" y="2331720"/>
            <a:ext cx="3657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annual turnover spike after a serious on-site safety incident.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457200" y="3246120"/>
            <a:ext cx="3931920" cy="15087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457200" y="3246120"/>
            <a:ext cx="73152" cy="1508760"/>
          </a:xfrm>
          <a:prstGeom prst="rect">
            <a:avLst/>
          </a:prstGeom>
          <a:solidFill>
            <a:srgbClr val="DC2626"/>
          </a:solidFill>
          <a:ln/>
        </p:spPr>
      </p:sp>
      <p:sp>
        <p:nvSpPr>
          <p:cNvPr id="17" name="Text 15"/>
          <p:cNvSpPr/>
          <p:nvPr/>
        </p:nvSpPr>
        <p:spPr>
          <a:xfrm>
            <a:off x="731520" y="3383280"/>
            <a:ext cx="3657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$250K+</a:t>
            </a:r>
            <a:endParaRPr lang="en-US" sz="4400" dirty="0"/>
          </a:p>
        </p:txBody>
      </p:sp>
      <p:sp>
        <p:nvSpPr>
          <p:cNvPr id="18" name="Text 16"/>
          <p:cNvSpPr/>
          <p:nvPr/>
        </p:nvSpPr>
        <p:spPr>
          <a:xfrm>
            <a:off x="731520" y="4023360"/>
            <a:ext cx="3657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regulatory fines triggered by missing chain-of-custody evidence.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4754880" y="3246120"/>
            <a:ext cx="3931920" cy="15087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4754880" y="3246120"/>
            <a:ext cx="73152" cy="1508760"/>
          </a:xfrm>
          <a:prstGeom prst="rect">
            <a:avLst/>
          </a:prstGeom>
          <a:solidFill>
            <a:srgbClr val="DC2626"/>
          </a:solidFill>
          <a:ln/>
        </p:spPr>
      </p:sp>
      <p:sp>
        <p:nvSpPr>
          <p:cNvPr id="21" name="Text 19"/>
          <p:cNvSpPr/>
          <p:nvPr/>
        </p:nvSpPr>
        <p:spPr>
          <a:xfrm>
            <a:off x="5029200" y="3383280"/>
            <a:ext cx="3657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21 days</a:t>
            </a:r>
            <a:endParaRPr lang="en-US" sz="4400" dirty="0"/>
          </a:p>
        </p:txBody>
      </p:sp>
      <p:sp>
        <p:nvSpPr>
          <p:cNvPr id="22" name="Text 20"/>
          <p:cNvSpPr/>
          <p:nvPr/>
        </p:nvSpPr>
        <p:spPr>
          <a:xfrm>
            <a:off x="5029200" y="4023360"/>
            <a:ext cx="3657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average operations downtime following a major field incident.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457200" y="480060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Sources: US BLS · OSHA enforcement reports · McKinsey workforce churn studies.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732520" y="228600"/>
            <a:ext cx="164592" cy="164592"/>
          </a:xfrm>
          <a:prstGeom prst="ellipse">
            <a:avLst/>
          </a:prstGeom>
          <a:solidFill>
            <a:srgbClr val="065A82"/>
          </a:solidFill>
          <a:ln/>
        </p:spPr>
      </p:sp>
      <p:sp>
        <p:nvSpPr>
          <p:cNvPr id="3" name="Shape 1"/>
          <p:cNvSpPr/>
          <p:nvPr/>
        </p:nvSpPr>
        <p:spPr>
          <a:xfrm>
            <a:off x="8503920" y="228600"/>
            <a:ext cx="91440" cy="91440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4" name="Shape 2"/>
          <p:cNvSpPr/>
          <p:nvPr/>
        </p:nvSpPr>
        <p:spPr>
          <a:xfrm>
            <a:off x="8348472" y="228600"/>
            <a:ext cx="54864" cy="54864"/>
          </a:xfrm>
          <a:prstGeom prst="ellipse">
            <a:avLst/>
          </a:prstGeom>
          <a:solidFill>
            <a:srgbClr val="9FE7F5"/>
          </a:solidFill>
          <a:ln/>
        </p:spPr>
      </p:sp>
      <p:sp>
        <p:nvSpPr>
          <p:cNvPr id="5" name="Text 3"/>
          <p:cNvSpPr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Today's Safety Stack Breaks</a:t>
            </a:r>
            <a:endParaRPr lang="en-US" sz="3200" dirty="0"/>
          </a:p>
        </p:txBody>
      </p:sp>
      <p:sp>
        <p:nvSpPr>
          <p:cNvPr id="6" name="Shape 4"/>
          <p:cNvSpPr/>
          <p:nvPr/>
        </p:nvSpPr>
        <p:spPr>
          <a:xfrm>
            <a:off x="457200" y="1097280"/>
            <a:ext cx="3931920" cy="3657600"/>
          </a:xfrm>
          <a:prstGeom prst="rect">
            <a:avLst/>
          </a:prstGeom>
          <a:solidFill>
            <a:srgbClr val="FFFFFF"/>
          </a:solidFill>
          <a:ln w="12700">
            <a:solidFill>
              <a:srgbClr val="FECACA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457200" y="1097280"/>
            <a:ext cx="3931920" cy="457200"/>
          </a:xfrm>
          <a:prstGeom prst="rect">
            <a:avLst/>
          </a:prstGeom>
          <a:solidFill>
            <a:srgbClr val="DC2626"/>
          </a:solidFill>
          <a:ln/>
        </p:spPr>
      </p:sp>
      <p:sp>
        <p:nvSpPr>
          <p:cNvPr id="8" name="Text 6"/>
          <p:cNvSpPr/>
          <p:nvPr/>
        </p:nvSpPr>
        <p:spPr>
          <a:xfrm>
            <a:off x="548640" y="1143000"/>
            <a:ext cx="3749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Today</a:t>
            </a:r>
            <a:endParaRPr lang="en-US" sz="1800" dirty="0"/>
          </a:p>
        </p:txBody>
      </p:sp>
      <p:pic>
        <p:nvPicPr>
          <p:cNvPr id="9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0080" y="1783080"/>
            <a:ext cx="228600" cy="228600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960120" y="1737360"/>
            <a:ext cx="3337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Panic apps — no cascade</a:t>
            </a:r>
            <a:endParaRPr lang="en-US" sz="1300" dirty="0"/>
          </a:p>
        </p:txBody>
      </p:sp>
      <p:sp>
        <p:nvSpPr>
          <p:cNvPr id="11" name="Text 8"/>
          <p:cNvSpPr/>
          <p:nvPr/>
        </p:nvSpPr>
        <p:spPr>
          <a:xfrm>
            <a:off x="960120" y="1993392"/>
            <a:ext cx="33375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the first contact misses the alert, the SOS dies silently.</a:t>
            </a:r>
            <a:endParaRPr lang="en-US" sz="1000" dirty="0"/>
          </a:p>
        </p:txBody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2468880"/>
            <a:ext cx="228600" cy="228600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960120" y="2423160"/>
            <a:ext cx="3337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Walkie-talkies — no audit</a:t>
            </a:r>
            <a:endParaRPr lang="en-US" sz="1300" dirty="0"/>
          </a:p>
        </p:txBody>
      </p:sp>
      <p:sp>
        <p:nvSpPr>
          <p:cNvPr id="14" name="Text 10"/>
          <p:cNvSpPr/>
          <p:nvPr/>
        </p:nvSpPr>
        <p:spPr>
          <a:xfrm>
            <a:off x="960120" y="2679192"/>
            <a:ext cx="33375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Voice traffic is unrecorded. Insurance + compliance claims fail.</a:t>
            </a:r>
            <a:endParaRPr lang="en-US" sz="1000" dirty="0"/>
          </a:p>
        </p:txBody>
      </p:sp>
      <p:pic>
        <p:nvPicPr>
          <p:cNvPr id="15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080" y="3154680"/>
            <a:ext cx="228600" cy="228600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960120" y="3108960"/>
            <a:ext cx="3337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"Call your manager"</a:t>
            </a:r>
            <a:endParaRPr lang="en-US" sz="1300" dirty="0"/>
          </a:p>
        </p:txBody>
      </p:sp>
      <p:sp>
        <p:nvSpPr>
          <p:cNvPr id="17" name="Text 12"/>
          <p:cNvSpPr/>
          <p:nvPr/>
        </p:nvSpPr>
        <p:spPr>
          <a:xfrm>
            <a:off x="960120" y="3364992"/>
            <a:ext cx="33375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Single point of failure. After hours = nothing.</a:t>
            </a:r>
            <a:endParaRPr lang="en-US" sz="1000" dirty="0"/>
          </a:p>
        </p:txBody>
      </p:sp>
      <p:pic>
        <p:nvPicPr>
          <p:cNvPr id="18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0080" y="3840480"/>
            <a:ext cx="228600" cy="228600"/>
          </a:xfrm>
          <a:prstGeom prst="rect">
            <a:avLst/>
          </a:prstGeom>
        </p:spPr>
      </p:pic>
      <p:sp>
        <p:nvSpPr>
          <p:cNvPr id="19" name="Text 13"/>
          <p:cNvSpPr/>
          <p:nvPr/>
        </p:nvSpPr>
        <p:spPr>
          <a:xfrm>
            <a:off x="960120" y="3794760"/>
            <a:ext cx="3337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ERP safety modules</a:t>
            </a:r>
            <a:endParaRPr lang="en-US" sz="1300" dirty="0"/>
          </a:p>
        </p:txBody>
      </p:sp>
      <p:sp>
        <p:nvSpPr>
          <p:cNvPr id="20" name="Text 14"/>
          <p:cNvSpPr/>
          <p:nvPr/>
        </p:nvSpPr>
        <p:spPr>
          <a:xfrm>
            <a:off x="960120" y="4050792"/>
            <a:ext cx="33375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 for compliance reporting, not real-time response.</a:t>
            </a:r>
            <a:endParaRPr lang="en-US" sz="1000" dirty="0"/>
          </a:p>
        </p:txBody>
      </p:sp>
      <p:sp>
        <p:nvSpPr>
          <p:cNvPr id="21" name="Shape 15"/>
          <p:cNvSpPr/>
          <p:nvPr/>
        </p:nvSpPr>
        <p:spPr>
          <a:xfrm>
            <a:off x="4754880" y="1097280"/>
            <a:ext cx="3931920" cy="3657600"/>
          </a:xfrm>
          <a:prstGeom prst="rect">
            <a:avLst/>
          </a:prstGeom>
          <a:solidFill>
            <a:srgbClr val="FFFFFF"/>
          </a:solidFill>
          <a:ln w="12700">
            <a:solidFill>
              <a:srgbClr val="BFDBFE"/>
            </a:solidFill>
            <a:prstDash val="solid"/>
          </a:ln>
        </p:spPr>
      </p:sp>
      <p:sp>
        <p:nvSpPr>
          <p:cNvPr id="22" name="Shape 16"/>
          <p:cNvSpPr/>
          <p:nvPr/>
        </p:nvSpPr>
        <p:spPr>
          <a:xfrm>
            <a:off x="4754880" y="1097280"/>
            <a:ext cx="3931920" cy="457200"/>
          </a:xfrm>
          <a:prstGeom prst="rect">
            <a:avLst/>
          </a:prstGeom>
          <a:solidFill>
            <a:srgbClr val="065A82"/>
          </a:solidFill>
          <a:ln/>
        </p:spPr>
      </p:sp>
      <p:sp>
        <p:nvSpPr>
          <p:cNvPr id="23" name="Text 17"/>
          <p:cNvSpPr/>
          <p:nvPr/>
        </p:nvSpPr>
        <p:spPr>
          <a:xfrm>
            <a:off x="4846320" y="1143000"/>
            <a:ext cx="3749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SOSphere</a:t>
            </a:r>
            <a:endParaRPr lang="en-US" sz="1800" dirty="0"/>
          </a:p>
        </p:txBody>
      </p:sp>
      <p:pic>
        <p:nvPicPr>
          <p:cNvPr id="24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937760" y="1783080"/>
            <a:ext cx="228600" cy="228600"/>
          </a:xfrm>
          <a:prstGeom prst="rect">
            <a:avLst/>
          </a:prstGeom>
        </p:spPr>
      </p:pic>
      <p:sp>
        <p:nvSpPr>
          <p:cNvPr id="25" name="Text 18"/>
          <p:cNvSpPr/>
          <p:nvPr/>
        </p:nvSpPr>
        <p:spPr>
          <a:xfrm>
            <a:off x="5257800" y="1737360"/>
            <a:ext cx="3337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Instant N-deep cascade</a:t>
            </a:r>
            <a:endParaRPr lang="en-US" sz="1300" dirty="0"/>
          </a:p>
        </p:txBody>
      </p:sp>
      <p:sp>
        <p:nvSpPr>
          <p:cNvPr id="26" name="Text 19"/>
          <p:cNvSpPr/>
          <p:nvPr/>
        </p:nvSpPr>
        <p:spPr>
          <a:xfrm>
            <a:off x="5257800" y="1993392"/>
            <a:ext cx="33375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Multi-contact + multi-channel (SMS + voice). Auto-retries + escalation.</a:t>
            </a:r>
            <a:endParaRPr lang="en-US" sz="1000" dirty="0"/>
          </a:p>
        </p:txBody>
      </p:sp>
      <p:pic>
        <p:nvPicPr>
          <p:cNvPr id="27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937760" y="2468880"/>
            <a:ext cx="228600" cy="228600"/>
          </a:xfrm>
          <a:prstGeom prst="rect">
            <a:avLst/>
          </a:prstGeom>
        </p:spPr>
      </p:pic>
      <p:sp>
        <p:nvSpPr>
          <p:cNvPr id="28" name="Text 20"/>
          <p:cNvSpPr/>
          <p:nvPr/>
        </p:nvSpPr>
        <p:spPr>
          <a:xfrm>
            <a:off x="5257800" y="2423160"/>
            <a:ext cx="3337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Hash-chained audit</a:t>
            </a:r>
            <a:endParaRPr lang="en-US" sz="1300" dirty="0"/>
          </a:p>
        </p:txBody>
      </p:sp>
      <p:sp>
        <p:nvSpPr>
          <p:cNvPr id="29" name="Text 21"/>
          <p:cNvSpPr/>
          <p:nvPr/>
        </p:nvSpPr>
        <p:spPr>
          <a:xfrm>
            <a:off x="5257800" y="2679192"/>
            <a:ext cx="33375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L2-D forensic-grade ledger. Tamper-evident with hash verification.</a:t>
            </a:r>
            <a:endParaRPr lang="en-US" sz="1000" dirty="0"/>
          </a:p>
        </p:txBody>
      </p:sp>
      <p:pic>
        <p:nvPicPr>
          <p:cNvPr id="30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937760" y="3154680"/>
            <a:ext cx="228600" cy="228600"/>
          </a:xfrm>
          <a:prstGeom prst="rect">
            <a:avLst/>
          </a:prstGeom>
        </p:spPr>
      </p:pic>
      <p:sp>
        <p:nvSpPr>
          <p:cNvPr id="31" name="Text 22"/>
          <p:cNvSpPr/>
          <p:nvPr/>
        </p:nvSpPr>
        <p:spPr>
          <a:xfrm>
            <a:off x="5257800" y="3108960"/>
            <a:ext cx="3337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Two-way contact channel</a:t>
            </a:r>
            <a:endParaRPr lang="en-US" sz="1300" dirty="0"/>
          </a:p>
        </p:txBody>
      </p:sp>
      <p:sp>
        <p:nvSpPr>
          <p:cNvPr id="32" name="Text 23"/>
          <p:cNvSpPr/>
          <p:nvPr/>
        </p:nvSpPr>
        <p:spPr>
          <a:xfrm>
            <a:off x="5257800" y="3364992"/>
            <a:ext cx="33375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Contact presses 1 (voice) OR replies SMS — both ack the SOS in &lt;2s.</a:t>
            </a:r>
            <a:endParaRPr lang="en-US" sz="1000" dirty="0"/>
          </a:p>
        </p:txBody>
      </p:sp>
      <p:pic>
        <p:nvPicPr>
          <p:cNvPr id="33" name="Image 7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937760" y="3840480"/>
            <a:ext cx="228600" cy="228600"/>
          </a:xfrm>
          <a:prstGeom prst="rect">
            <a:avLst/>
          </a:prstGeom>
        </p:spPr>
      </p:pic>
      <p:sp>
        <p:nvSpPr>
          <p:cNvPr id="34" name="Text 24"/>
          <p:cNvSpPr/>
          <p:nvPr/>
        </p:nvSpPr>
        <p:spPr>
          <a:xfrm>
            <a:off x="5257800" y="3794760"/>
            <a:ext cx="3337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Forensic evidence capture</a:t>
            </a:r>
            <a:endParaRPr lang="en-US" sz="1300" dirty="0"/>
          </a:p>
        </p:txBody>
      </p:sp>
      <p:sp>
        <p:nvSpPr>
          <p:cNvPr id="35" name="Text 25"/>
          <p:cNvSpPr/>
          <p:nvPr/>
        </p:nvSpPr>
        <p:spPr>
          <a:xfrm>
            <a:off x="5257800" y="4050792"/>
            <a:ext cx="33375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Photo + audio + GPS + audit timeline auto-saved per incident.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732520" y="228600"/>
            <a:ext cx="164592" cy="164592"/>
          </a:xfrm>
          <a:prstGeom prst="ellipse">
            <a:avLst/>
          </a:prstGeom>
          <a:solidFill>
            <a:srgbClr val="065A82"/>
          </a:solidFill>
          <a:ln/>
        </p:spPr>
      </p:sp>
      <p:sp>
        <p:nvSpPr>
          <p:cNvPr id="3" name="Shape 1"/>
          <p:cNvSpPr/>
          <p:nvPr/>
        </p:nvSpPr>
        <p:spPr>
          <a:xfrm>
            <a:off x="8503920" y="228600"/>
            <a:ext cx="91440" cy="91440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4" name="Shape 2"/>
          <p:cNvSpPr/>
          <p:nvPr/>
        </p:nvSpPr>
        <p:spPr>
          <a:xfrm>
            <a:off x="8348472" y="228600"/>
            <a:ext cx="54864" cy="54864"/>
          </a:xfrm>
          <a:prstGeom prst="ellipse">
            <a:avLst/>
          </a:prstGeom>
          <a:solidFill>
            <a:srgbClr val="9FE7F5"/>
          </a:solidFill>
          <a:ln/>
        </p:spPr>
      </p:sp>
      <p:sp>
        <p:nvSpPr>
          <p:cNvPr id="5" name="Text 3"/>
          <p:cNvSpPr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SOSphere Works — End to End</a:t>
            </a:r>
            <a:endParaRPr lang="en-US" sz="3200" dirty="0"/>
          </a:p>
        </p:txBody>
      </p:sp>
      <p:sp>
        <p:nvSpPr>
          <p:cNvPr id="6" name="Text 4"/>
          <p:cNvSpPr/>
          <p:nvPr/>
        </p:nvSpPr>
        <p:spPr>
          <a:xfrm>
            <a:off x="457200" y="91440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Five stages. All under 8 seconds from trigger to first acknowledgment.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457200" y="1737360"/>
            <a:ext cx="1554480" cy="22860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12700" dir="5400000">
              <a:srgbClr val="000000">
                <a:alpha val="6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1005840" y="1920240"/>
            <a:ext cx="457200" cy="457200"/>
          </a:xfrm>
          <a:prstGeom prst="ellipse">
            <a:avLst/>
          </a:prstGeom>
          <a:solidFill>
            <a:srgbClr val="065A82"/>
          </a:solidFill>
          <a:ln/>
        </p:spPr>
      </p:sp>
      <p:sp>
        <p:nvSpPr>
          <p:cNvPr id="9" name="Text 7"/>
          <p:cNvSpPr/>
          <p:nvPr/>
        </p:nvSpPr>
        <p:spPr>
          <a:xfrm>
            <a:off x="1005840" y="1965960"/>
            <a:ext cx="457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800" dirty="0"/>
          </a:p>
        </p:txBody>
      </p:sp>
      <p:pic>
        <p:nvPicPr>
          <p:cNvPr id="10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51560" y="2514600"/>
            <a:ext cx="365760" cy="365760"/>
          </a:xfrm>
          <a:prstGeom prst="rect">
            <a:avLst/>
          </a:prstGeom>
        </p:spPr>
      </p:pic>
      <p:sp>
        <p:nvSpPr>
          <p:cNvPr id="11" name="Text 8"/>
          <p:cNvSpPr/>
          <p:nvPr/>
        </p:nvSpPr>
        <p:spPr>
          <a:xfrm>
            <a:off x="548640" y="2971800"/>
            <a:ext cx="1371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Trigger</a:t>
            </a:r>
            <a:endParaRPr lang="en-US" sz="1400" dirty="0"/>
          </a:p>
        </p:txBody>
      </p:sp>
      <p:sp>
        <p:nvSpPr>
          <p:cNvPr id="12" name="Text 9"/>
          <p:cNvSpPr/>
          <p:nvPr/>
        </p:nvSpPr>
        <p:spPr>
          <a:xfrm>
            <a:off x="548640" y="3383280"/>
            <a:ext cx="1371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Button · Shake · Fall · Timer</a:t>
            </a:r>
            <a:endParaRPr lang="en-US" sz="900" dirty="0"/>
          </a:p>
        </p:txBody>
      </p:sp>
      <p:sp>
        <p:nvSpPr>
          <p:cNvPr id="13" name="Shape 10"/>
          <p:cNvSpPr/>
          <p:nvPr/>
        </p:nvSpPr>
        <p:spPr>
          <a:xfrm>
            <a:off x="2020824" y="2880360"/>
            <a:ext cx="118872" cy="0"/>
          </a:xfrm>
          <a:prstGeom prst="line">
            <a:avLst/>
          </a:prstGeom>
          <a:noFill/>
          <a:ln w="25400">
            <a:solidFill>
              <a:srgbClr val="1C7293"/>
            </a:solidFill>
            <a:prstDash val="solid"/>
            <a:tailEnd type="triangle"/>
          </a:ln>
        </p:spPr>
      </p:sp>
      <p:sp>
        <p:nvSpPr>
          <p:cNvPr id="14" name="Shape 11"/>
          <p:cNvSpPr/>
          <p:nvPr/>
        </p:nvSpPr>
        <p:spPr>
          <a:xfrm>
            <a:off x="2148840" y="1737360"/>
            <a:ext cx="1554480" cy="22860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12700" dir="5400000">
              <a:srgbClr val="000000">
                <a:alpha val="6000"/>
              </a:srgbClr>
            </a:outerShdw>
          </a:effectLst>
        </p:spPr>
      </p:sp>
      <p:sp>
        <p:nvSpPr>
          <p:cNvPr id="15" name="Shape 12"/>
          <p:cNvSpPr/>
          <p:nvPr/>
        </p:nvSpPr>
        <p:spPr>
          <a:xfrm>
            <a:off x="2697480" y="1920240"/>
            <a:ext cx="457200" cy="457200"/>
          </a:xfrm>
          <a:prstGeom prst="ellipse">
            <a:avLst/>
          </a:prstGeom>
          <a:solidFill>
            <a:srgbClr val="065A82"/>
          </a:solidFill>
          <a:ln/>
        </p:spPr>
      </p:sp>
      <p:sp>
        <p:nvSpPr>
          <p:cNvPr id="16" name="Text 13"/>
          <p:cNvSpPr/>
          <p:nvPr/>
        </p:nvSpPr>
        <p:spPr>
          <a:xfrm>
            <a:off x="2697480" y="1965960"/>
            <a:ext cx="457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800" dirty="0"/>
          </a:p>
        </p:txBody>
      </p:sp>
      <p:pic>
        <p:nvPicPr>
          <p:cNvPr id="17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0" y="2514600"/>
            <a:ext cx="365760" cy="365760"/>
          </a:xfrm>
          <a:prstGeom prst="rect">
            <a:avLst/>
          </a:prstGeom>
        </p:spPr>
      </p:pic>
      <p:sp>
        <p:nvSpPr>
          <p:cNvPr id="18" name="Text 14"/>
          <p:cNvSpPr/>
          <p:nvPr/>
        </p:nvSpPr>
        <p:spPr>
          <a:xfrm>
            <a:off x="2240280" y="2971800"/>
            <a:ext cx="1371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Fanout</a:t>
            </a:r>
            <a:endParaRPr lang="en-US" sz="1400" dirty="0"/>
          </a:p>
        </p:txBody>
      </p:sp>
      <p:sp>
        <p:nvSpPr>
          <p:cNvPr id="19" name="Text 15"/>
          <p:cNvSpPr/>
          <p:nvPr/>
        </p:nvSpPr>
        <p:spPr>
          <a:xfrm>
            <a:off x="2240280" y="3383280"/>
            <a:ext cx="1371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SMS + Voice cascade to N contacts</a:t>
            </a:r>
            <a:endParaRPr lang="en-US" sz="900" dirty="0"/>
          </a:p>
        </p:txBody>
      </p:sp>
      <p:sp>
        <p:nvSpPr>
          <p:cNvPr id="20" name="Shape 16"/>
          <p:cNvSpPr/>
          <p:nvPr/>
        </p:nvSpPr>
        <p:spPr>
          <a:xfrm>
            <a:off x="3712464" y="2880360"/>
            <a:ext cx="118872" cy="0"/>
          </a:xfrm>
          <a:prstGeom prst="line">
            <a:avLst/>
          </a:prstGeom>
          <a:noFill/>
          <a:ln w="25400">
            <a:solidFill>
              <a:srgbClr val="1C7293"/>
            </a:solidFill>
            <a:prstDash val="solid"/>
            <a:tailEnd type="triangle"/>
          </a:ln>
        </p:spPr>
      </p:sp>
      <p:sp>
        <p:nvSpPr>
          <p:cNvPr id="21" name="Shape 17"/>
          <p:cNvSpPr/>
          <p:nvPr/>
        </p:nvSpPr>
        <p:spPr>
          <a:xfrm>
            <a:off x="3840480" y="1737360"/>
            <a:ext cx="1554480" cy="22860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12700" dir="5400000">
              <a:srgbClr val="000000">
                <a:alpha val="6000"/>
              </a:srgbClr>
            </a:outerShdw>
          </a:effectLst>
        </p:spPr>
      </p:sp>
      <p:sp>
        <p:nvSpPr>
          <p:cNvPr id="22" name="Shape 18"/>
          <p:cNvSpPr/>
          <p:nvPr/>
        </p:nvSpPr>
        <p:spPr>
          <a:xfrm>
            <a:off x="4389120" y="1920240"/>
            <a:ext cx="457200" cy="457200"/>
          </a:xfrm>
          <a:prstGeom prst="ellipse">
            <a:avLst/>
          </a:prstGeom>
          <a:solidFill>
            <a:srgbClr val="065A82"/>
          </a:solidFill>
          <a:ln/>
        </p:spPr>
      </p:sp>
      <p:sp>
        <p:nvSpPr>
          <p:cNvPr id="23" name="Text 19"/>
          <p:cNvSpPr/>
          <p:nvPr/>
        </p:nvSpPr>
        <p:spPr>
          <a:xfrm>
            <a:off x="4389120" y="1965960"/>
            <a:ext cx="457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800" dirty="0"/>
          </a:p>
        </p:txBody>
      </p:sp>
      <p:pic>
        <p:nvPicPr>
          <p:cNvPr id="24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434840" y="2514600"/>
            <a:ext cx="365760" cy="365760"/>
          </a:xfrm>
          <a:prstGeom prst="rect">
            <a:avLst/>
          </a:prstGeom>
        </p:spPr>
      </p:pic>
      <p:sp>
        <p:nvSpPr>
          <p:cNvPr id="25" name="Text 20"/>
          <p:cNvSpPr/>
          <p:nvPr/>
        </p:nvSpPr>
        <p:spPr>
          <a:xfrm>
            <a:off x="3931920" y="2971800"/>
            <a:ext cx="1371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Acknowledge</a:t>
            </a:r>
            <a:endParaRPr lang="en-US" sz="1400" dirty="0"/>
          </a:p>
        </p:txBody>
      </p:sp>
      <p:sp>
        <p:nvSpPr>
          <p:cNvPr id="26" name="Text 21"/>
          <p:cNvSpPr/>
          <p:nvPr/>
        </p:nvSpPr>
        <p:spPr>
          <a:xfrm>
            <a:off x="3931920" y="3383280"/>
            <a:ext cx="1371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Press 1 OR SMS reply (&lt;2s)</a:t>
            </a:r>
            <a:endParaRPr lang="en-US" sz="900" dirty="0"/>
          </a:p>
        </p:txBody>
      </p:sp>
      <p:sp>
        <p:nvSpPr>
          <p:cNvPr id="27" name="Shape 22"/>
          <p:cNvSpPr/>
          <p:nvPr/>
        </p:nvSpPr>
        <p:spPr>
          <a:xfrm>
            <a:off x="5404104" y="2880360"/>
            <a:ext cx="118872" cy="0"/>
          </a:xfrm>
          <a:prstGeom prst="line">
            <a:avLst/>
          </a:prstGeom>
          <a:noFill/>
          <a:ln w="25400">
            <a:solidFill>
              <a:srgbClr val="1C7293"/>
            </a:solidFill>
            <a:prstDash val="solid"/>
            <a:tailEnd type="triangle"/>
          </a:ln>
        </p:spPr>
      </p:sp>
      <p:sp>
        <p:nvSpPr>
          <p:cNvPr id="28" name="Shape 23"/>
          <p:cNvSpPr/>
          <p:nvPr/>
        </p:nvSpPr>
        <p:spPr>
          <a:xfrm>
            <a:off x="5532120" y="1737360"/>
            <a:ext cx="1554480" cy="22860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12700" dir="5400000">
              <a:srgbClr val="000000">
                <a:alpha val="6000"/>
              </a:srgbClr>
            </a:outerShdw>
          </a:effectLst>
        </p:spPr>
      </p:sp>
      <p:sp>
        <p:nvSpPr>
          <p:cNvPr id="29" name="Shape 24"/>
          <p:cNvSpPr/>
          <p:nvPr/>
        </p:nvSpPr>
        <p:spPr>
          <a:xfrm>
            <a:off x="6080760" y="1920240"/>
            <a:ext cx="457200" cy="457200"/>
          </a:xfrm>
          <a:prstGeom prst="ellipse">
            <a:avLst/>
          </a:prstGeom>
          <a:solidFill>
            <a:srgbClr val="065A82"/>
          </a:solidFill>
          <a:ln/>
        </p:spPr>
      </p:sp>
      <p:sp>
        <p:nvSpPr>
          <p:cNvPr id="30" name="Text 25"/>
          <p:cNvSpPr/>
          <p:nvPr/>
        </p:nvSpPr>
        <p:spPr>
          <a:xfrm>
            <a:off x="6080760" y="1965960"/>
            <a:ext cx="457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800" dirty="0"/>
          </a:p>
        </p:txBody>
      </p:sp>
      <p:pic>
        <p:nvPicPr>
          <p:cNvPr id="31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126480" y="2514600"/>
            <a:ext cx="365760" cy="365760"/>
          </a:xfrm>
          <a:prstGeom prst="rect">
            <a:avLst/>
          </a:prstGeom>
        </p:spPr>
      </p:pic>
      <p:sp>
        <p:nvSpPr>
          <p:cNvPr id="32" name="Text 26"/>
          <p:cNvSpPr/>
          <p:nvPr/>
        </p:nvSpPr>
        <p:spPr>
          <a:xfrm>
            <a:off x="5623560" y="2971800"/>
            <a:ext cx="1371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Bridge</a:t>
            </a:r>
            <a:endParaRPr lang="en-US" sz="1400" dirty="0"/>
          </a:p>
        </p:txBody>
      </p:sp>
      <p:sp>
        <p:nvSpPr>
          <p:cNvPr id="33" name="Text 27"/>
          <p:cNvSpPr/>
          <p:nvPr/>
        </p:nvSpPr>
        <p:spPr>
          <a:xfrm>
            <a:off x="5623560" y="3383280"/>
            <a:ext cx="1371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conference call (Elite)</a:t>
            </a:r>
            <a:endParaRPr lang="en-US" sz="900" dirty="0"/>
          </a:p>
        </p:txBody>
      </p:sp>
      <p:sp>
        <p:nvSpPr>
          <p:cNvPr id="34" name="Shape 28"/>
          <p:cNvSpPr/>
          <p:nvPr/>
        </p:nvSpPr>
        <p:spPr>
          <a:xfrm>
            <a:off x="7095744" y="2880360"/>
            <a:ext cx="118872" cy="0"/>
          </a:xfrm>
          <a:prstGeom prst="line">
            <a:avLst/>
          </a:prstGeom>
          <a:noFill/>
          <a:ln w="25400">
            <a:solidFill>
              <a:srgbClr val="1C7293"/>
            </a:solidFill>
            <a:prstDash val="solid"/>
            <a:tailEnd type="triangle"/>
          </a:ln>
        </p:spPr>
      </p:sp>
      <p:sp>
        <p:nvSpPr>
          <p:cNvPr id="35" name="Shape 29"/>
          <p:cNvSpPr/>
          <p:nvPr/>
        </p:nvSpPr>
        <p:spPr>
          <a:xfrm>
            <a:off x="7223760" y="1737360"/>
            <a:ext cx="1554480" cy="22860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12700" dir="5400000">
              <a:srgbClr val="000000">
                <a:alpha val="6000"/>
              </a:srgbClr>
            </a:outerShdw>
          </a:effectLst>
        </p:spPr>
      </p:sp>
      <p:sp>
        <p:nvSpPr>
          <p:cNvPr id="36" name="Shape 30"/>
          <p:cNvSpPr/>
          <p:nvPr/>
        </p:nvSpPr>
        <p:spPr>
          <a:xfrm>
            <a:off x="7772400" y="1920240"/>
            <a:ext cx="457200" cy="457200"/>
          </a:xfrm>
          <a:prstGeom prst="ellipse">
            <a:avLst/>
          </a:prstGeom>
          <a:solidFill>
            <a:srgbClr val="065A82"/>
          </a:solidFill>
          <a:ln/>
        </p:spPr>
      </p:sp>
      <p:sp>
        <p:nvSpPr>
          <p:cNvPr id="37" name="Text 31"/>
          <p:cNvSpPr/>
          <p:nvPr/>
        </p:nvSpPr>
        <p:spPr>
          <a:xfrm>
            <a:off x="7772400" y="1965960"/>
            <a:ext cx="457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800" dirty="0"/>
          </a:p>
        </p:txBody>
      </p:sp>
      <p:pic>
        <p:nvPicPr>
          <p:cNvPr id="38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818120" y="2514600"/>
            <a:ext cx="365760" cy="365760"/>
          </a:xfrm>
          <a:prstGeom prst="rect">
            <a:avLst/>
          </a:prstGeom>
        </p:spPr>
      </p:pic>
      <p:sp>
        <p:nvSpPr>
          <p:cNvPr id="39" name="Text 32"/>
          <p:cNvSpPr/>
          <p:nvPr/>
        </p:nvSpPr>
        <p:spPr>
          <a:xfrm>
            <a:off x="7315200" y="2971800"/>
            <a:ext cx="1371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Forensic</a:t>
            </a:r>
            <a:endParaRPr lang="en-US" sz="1400" dirty="0"/>
          </a:p>
        </p:txBody>
      </p:sp>
      <p:sp>
        <p:nvSpPr>
          <p:cNvPr id="40" name="Text 33"/>
          <p:cNvSpPr/>
          <p:nvPr/>
        </p:nvSpPr>
        <p:spPr>
          <a:xfrm>
            <a:off x="7315200" y="3383280"/>
            <a:ext cx="1371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Photo · audit · debrief</a:t>
            </a:r>
            <a:endParaRPr lang="en-US" sz="900" dirty="0"/>
          </a:p>
        </p:txBody>
      </p:sp>
      <p:sp>
        <p:nvSpPr>
          <p:cNvPr id="41" name="Text 34"/>
          <p:cNvSpPr/>
          <p:nvPr/>
        </p:nvSpPr>
        <p:spPr>
          <a:xfrm>
            <a:off x="457200" y="429768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Median trigger→ack: 6.2 seconds (production telemetry, May 2026).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732520" y="228600"/>
            <a:ext cx="164592" cy="164592"/>
          </a:xfrm>
          <a:prstGeom prst="ellipse">
            <a:avLst/>
          </a:prstGeom>
          <a:solidFill>
            <a:srgbClr val="065A82"/>
          </a:solidFill>
          <a:ln/>
        </p:spPr>
      </p:sp>
      <p:sp>
        <p:nvSpPr>
          <p:cNvPr id="3" name="Shape 1"/>
          <p:cNvSpPr/>
          <p:nvPr/>
        </p:nvSpPr>
        <p:spPr>
          <a:xfrm>
            <a:off x="8503920" y="228600"/>
            <a:ext cx="91440" cy="91440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4" name="Shape 2"/>
          <p:cNvSpPr/>
          <p:nvPr/>
        </p:nvSpPr>
        <p:spPr>
          <a:xfrm>
            <a:off x="8348472" y="228600"/>
            <a:ext cx="54864" cy="54864"/>
          </a:xfrm>
          <a:prstGeom prst="ellipse">
            <a:avLst/>
          </a:prstGeom>
          <a:solidFill>
            <a:srgbClr val="9FE7F5"/>
          </a:solidFill>
          <a:ln/>
        </p:spPr>
      </p:sp>
      <p:sp>
        <p:nvSpPr>
          <p:cNvPr id="5" name="Text 3"/>
          <p:cNvSpPr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Architecture — Edge-native, Realtime-first</a:t>
            </a:r>
            <a:endParaRPr lang="en-US" sz="3000" dirty="0"/>
          </a:p>
        </p:txBody>
      </p:sp>
      <p:sp>
        <p:nvSpPr>
          <p:cNvPr id="6" name="Shape 4"/>
          <p:cNvSpPr/>
          <p:nvPr/>
        </p:nvSpPr>
        <p:spPr>
          <a:xfrm>
            <a:off x="457200" y="1417320"/>
            <a:ext cx="1554480" cy="16916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97280" y="1600200"/>
            <a:ext cx="274320" cy="27432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502920" y="1965960"/>
            <a:ext cx="1463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Mobile App</a:t>
            </a:r>
            <a:endParaRPr lang="en-US" sz="1300" dirty="0"/>
          </a:p>
        </p:txBody>
      </p:sp>
      <p:sp>
        <p:nvSpPr>
          <p:cNvPr id="9" name="Text 6"/>
          <p:cNvSpPr/>
          <p:nvPr/>
        </p:nvSpPr>
        <p:spPr>
          <a:xfrm>
            <a:off x="502920" y="2331720"/>
            <a:ext cx="14630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React Native · offline-first</a:t>
            </a:r>
            <a:endParaRPr lang="en-US" sz="900" dirty="0"/>
          </a:p>
        </p:txBody>
      </p:sp>
      <p:sp>
        <p:nvSpPr>
          <p:cNvPr id="10" name="Shape 7"/>
          <p:cNvSpPr/>
          <p:nvPr/>
        </p:nvSpPr>
        <p:spPr>
          <a:xfrm>
            <a:off x="2029968" y="2240280"/>
            <a:ext cx="164592" cy="0"/>
          </a:xfrm>
          <a:prstGeom prst="line">
            <a:avLst/>
          </a:prstGeom>
          <a:noFill/>
          <a:ln w="25400">
            <a:solidFill>
              <a:srgbClr val="1C7293"/>
            </a:solidFill>
            <a:prstDash val="solid"/>
            <a:tailEnd type="triangle"/>
          </a:ln>
        </p:spPr>
      </p:sp>
      <p:sp>
        <p:nvSpPr>
          <p:cNvPr id="11" name="Shape 8"/>
          <p:cNvSpPr/>
          <p:nvPr/>
        </p:nvSpPr>
        <p:spPr>
          <a:xfrm>
            <a:off x="2194560" y="1417320"/>
            <a:ext cx="1554480" cy="16916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34640" y="1600200"/>
            <a:ext cx="274320" cy="274320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2240280" y="1965960"/>
            <a:ext cx="1463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Edge Functions</a:t>
            </a:r>
            <a:endParaRPr lang="en-US" sz="1300" dirty="0"/>
          </a:p>
        </p:txBody>
      </p:sp>
      <p:sp>
        <p:nvSpPr>
          <p:cNvPr id="14" name="Text 10"/>
          <p:cNvSpPr/>
          <p:nvPr/>
        </p:nvSpPr>
        <p:spPr>
          <a:xfrm>
            <a:off x="2240280" y="2331720"/>
            <a:ext cx="14630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Supabase · Deno</a:t>
            </a:r>
            <a:endParaRPr lang="en-US" sz="900" dirty="0"/>
          </a:p>
        </p:txBody>
      </p:sp>
      <p:sp>
        <p:nvSpPr>
          <p:cNvPr id="15" name="Shape 11"/>
          <p:cNvSpPr/>
          <p:nvPr/>
        </p:nvSpPr>
        <p:spPr>
          <a:xfrm>
            <a:off x="3767328" y="2240280"/>
            <a:ext cx="164592" cy="0"/>
          </a:xfrm>
          <a:prstGeom prst="line">
            <a:avLst/>
          </a:prstGeom>
          <a:noFill/>
          <a:ln w="25400">
            <a:solidFill>
              <a:srgbClr val="1C7293"/>
            </a:solidFill>
            <a:prstDash val="solid"/>
            <a:tailEnd type="triangle"/>
          </a:ln>
        </p:spPr>
      </p:sp>
      <p:sp>
        <p:nvSpPr>
          <p:cNvPr id="16" name="Shape 12"/>
          <p:cNvSpPr/>
          <p:nvPr/>
        </p:nvSpPr>
        <p:spPr>
          <a:xfrm>
            <a:off x="3931920" y="1417320"/>
            <a:ext cx="1554480" cy="16916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pic>
        <p:nvPicPr>
          <p:cNvPr id="1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0" y="1600200"/>
            <a:ext cx="274320" cy="274320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3977640" y="1965960"/>
            <a:ext cx="1463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Twilio</a:t>
            </a:r>
            <a:endParaRPr lang="en-US" sz="1300" dirty="0"/>
          </a:p>
        </p:txBody>
      </p:sp>
      <p:sp>
        <p:nvSpPr>
          <p:cNvPr id="19" name="Text 14"/>
          <p:cNvSpPr/>
          <p:nvPr/>
        </p:nvSpPr>
        <p:spPr>
          <a:xfrm>
            <a:off x="3977640" y="2331720"/>
            <a:ext cx="14630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SMS · Voice · Conference</a:t>
            </a:r>
            <a:endParaRPr lang="en-US" sz="900" dirty="0"/>
          </a:p>
        </p:txBody>
      </p:sp>
      <p:sp>
        <p:nvSpPr>
          <p:cNvPr id="20" name="Shape 15"/>
          <p:cNvSpPr/>
          <p:nvPr/>
        </p:nvSpPr>
        <p:spPr>
          <a:xfrm>
            <a:off x="5504688" y="2240280"/>
            <a:ext cx="164592" cy="0"/>
          </a:xfrm>
          <a:prstGeom prst="line">
            <a:avLst/>
          </a:prstGeom>
          <a:noFill/>
          <a:ln w="25400">
            <a:solidFill>
              <a:srgbClr val="1C7293"/>
            </a:solidFill>
            <a:prstDash val="solid"/>
            <a:tailEnd type="triangle"/>
          </a:ln>
        </p:spPr>
      </p:sp>
      <p:sp>
        <p:nvSpPr>
          <p:cNvPr id="21" name="Shape 16"/>
          <p:cNvSpPr/>
          <p:nvPr/>
        </p:nvSpPr>
        <p:spPr>
          <a:xfrm>
            <a:off x="5669280" y="1417320"/>
            <a:ext cx="1554480" cy="16916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pic>
        <p:nvPicPr>
          <p:cNvPr id="22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09360" y="1600200"/>
            <a:ext cx="274320" cy="274320"/>
          </a:xfrm>
          <a:prstGeom prst="rect">
            <a:avLst/>
          </a:prstGeom>
        </p:spPr>
      </p:pic>
      <p:sp>
        <p:nvSpPr>
          <p:cNvPr id="23" name="Text 17"/>
          <p:cNvSpPr/>
          <p:nvPr/>
        </p:nvSpPr>
        <p:spPr>
          <a:xfrm>
            <a:off x="5715000" y="1965960"/>
            <a:ext cx="1463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Contacts</a:t>
            </a:r>
            <a:endParaRPr lang="en-US" sz="1300" dirty="0"/>
          </a:p>
        </p:txBody>
      </p:sp>
      <p:sp>
        <p:nvSpPr>
          <p:cNvPr id="24" name="Text 18"/>
          <p:cNvSpPr/>
          <p:nvPr/>
        </p:nvSpPr>
        <p:spPr>
          <a:xfrm>
            <a:off x="5715000" y="2331720"/>
            <a:ext cx="14630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SMS reply · DTMF · dashboard</a:t>
            </a:r>
            <a:endParaRPr lang="en-US" sz="900" dirty="0"/>
          </a:p>
        </p:txBody>
      </p:sp>
      <p:sp>
        <p:nvSpPr>
          <p:cNvPr id="25" name="Shape 19"/>
          <p:cNvSpPr/>
          <p:nvPr/>
        </p:nvSpPr>
        <p:spPr>
          <a:xfrm>
            <a:off x="7242048" y="2240280"/>
            <a:ext cx="164592" cy="0"/>
          </a:xfrm>
          <a:prstGeom prst="line">
            <a:avLst/>
          </a:prstGeom>
          <a:noFill/>
          <a:ln w="25400">
            <a:solidFill>
              <a:srgbClr val="1C7293"/>
            </a:solidFill>
            <a:prstDash val="solid"/>
            <a:tailEnd type="triangle"/>
          </a:ln>
        </p:spPr>
      </p:sp>
      <p:sp>
        <p:nvSpPr>
          <p:cNvPr id="26" name="Shape 20"/>
          <p:cNvSpPr/>
          <p:nvPr/>
        </p:nvSpPr>
        <p:spPr>
          <a:xfrm>
            <a:off x="7406640" y="1417320"/>
            <a:ext cx="1554480" cy="16916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pic>
        <p:nvPicPr>
          <p:cNvPr id="27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046720" y="1600200"/>
            <a:ext cx="274320" cy="274320"/>
          </a:xfrm>
          <a:prstGeom prst="rect">
            <a:avLst/>
          </a:prstGeom>
        </p:spPr>
      </p:pic>
      <p:sp>
        <p:nvSpPr>
          <p:cNvPr id="28" name="Text 21"/>
          <p:cNvSpPr/>
          <p:nvPr/>
        </p:nvSpPr>
        <p:spPr>
          <a:xfrm>
            <a:off x="7452360" y="1965960"/>
            <a:ext cx="1463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Audit Ledger</a:t>
            </a:r>
            <a:endParaRPr lang="en-US" sz="1300" dirty="0"/>
          </a:p>
        </p:txBody>
      </p:sp>
      <p:sp>
        <p:nvSpPr>
          <p:cNvPr id="29" name="Text 22"/>
          <p:cNvSpPr/>
          <p:nvPr/>
        </p:nvSpPr>
        <p:spPr>
          <a:xfrm>
            <a:off x="7452360" y="2331720"/>
            <a:ext cx="14630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Hash-chained · Postgres</a:t>
            </a:r>
            <a:endParaRPr lang="en-US" sz="900" dirty="0"/>
          </a:p>
        </p:txBody>
      </p:sp>
      <p:sp>
        <p:nvSpPr>
          <p:cNvPr id="30" name="Shape 23"/>
          <p:cNvSpPr/>
          <p:nvPr/>
        </p:nvSpPr>
        <p:spPr>
          <a:xfrm>
            <a:off x="457200" y="3520440"/>
            <a:ext cx="1645920" cy="777240"/>
          </a:xfrm>
          <a:prstGeom prst="rect">
            <a:avLst/>
          </a:prstGeom>
          <a:solidFill>
            <a:srgbClr val="21295C"/>
          </a:solidFill>
          <a:ln/>
        </p:spPr>
      </p:sp>
      <p:pic>
        <p:nvPicPr>
          <p:cNvPr id="31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94360" y="3703320"/>
            <a:ext cx="365760" cy="365760"/>
          </a:xfrm>
          <a:prstGeom prst="rect">
            <a:avLst/>
          </a:prstGeom>
        </p:spPr>
      </p:pic>
      <p:sp>
        <p:nvSpPr>
          <p:cNvPr id="32" name="Text 24"/>
          <p:cNvSpPr/>
          <p:nvPr/>
        </p:nvSpPr>
        <p:spPr>
          <a:xfrm>
            <a:off x="1005840" y="3657600"/>
            <a:ext cx="1051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TLS in transit</a:t>
            </a:r>
            <a:endParaRPr lang="en-US" sz="1100" dirty="0"/>
          </a:p>
        </p:txBody>
      </p:sp>
      <p:sp>
        <p:nvSpPr>
          <p:cNvPr id="33" name="Shape 25"/>
          <p:cNvSpPr/>
          <p:nvPr/>
        </p:nvSpPr>
        <p:spPr>
          <a:xfrm>
            <a:off x="2194560" y="3520440"/>
            <a:ext cx="1645920" cy="777240"/>
          </a:xfrm>
          <a:prstGeom prst="rect">
            <a:avLst/>
          </a:prstGeom>
          <a:solidFill>
            <a:srgbClr val="21295C"/>
          </a:solidFill>
          <a:ln/>
        </p:spPr>
      </p:sp>
      <p:pic>
        <p:nvPicPr>
          <p:cNvPr id="34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2331720" y="3703320"/>
            <a:ext cx="365760" cy="365760"/>
          </a:xfrm>
          <a:prstGeom prst="rect">
            <a:avLst/>
          </a:prstGeom>
        </p:spPr>
      </p:pic>
      <p:sp>
        <p:nvSpPr>
          <p:cNvPr id="35" name="Text 26"/>
          <p:cNvSpPr/>
          <p:nvPr/>
        </p:nvSpPr>
        <p:spPr>
          <a:xfrm>
            <a:off x="2743200" y="3657600"/>
            <a:ext cx="1051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Twilio-signed webhooks</a:t>
            </a:r>
            <a:endParaRPr lang="en-US" sz="1100" dirty="0"/>
          </a:p>
        </p:txBody>
      </p:sp>
      <p:sp>
        <p:nvSpPr>
          <p:cNvPr id="36" name="Shape 27"/>
          <p:cNvSpPr/>
          <p:nvPr/>
        </p:nvSpPr>
        <p:spPr>
          <a:xfrm>
            <a:off x="3931920" y="3520440"/>
            <a:ext cx="1645920" cy="777240"/>
          </a:xfrm>
          <a:prstGeom prst="rect">
            <a:avLst/>
          </a:prstGeom>
          <a:solidFill>
            <a:srgbClr val="21295C"/>
          </a:solidFill>
          <a:ln/>
        </p:spPr>
      </p:sp>
      <p:pic>
        <p:nvPicPr>
          <p:cNvPr id="37" name="Image 7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069080" y="3703320"/>
            <a:ext cx="365760" cy="365760"/>
          </a:xfrm>
          <a:prstGeom prst="rect">
            <a:avLst/>
          </a:prstGeom>
        </p:spPr>
      </p:pic>
      <p:sp>
        <p:nvSpPr>
          <p:cNvPr id="38" name="Text 28"/>
          <p:cNvSpPr/>
          <p:nvPr/>
        </p:nvSpPr>
        <p:spPr>
          <a:xfrm>
            <a:off x="4480560" y="3657600"/>
            <a:ext cx="1051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RLS row-level scope</a:t>
            </a:r>
            <a:endParaRPr lang="en-US" sz="1100" dirty="0"/>
          </a:p>
        </p:txBody>
      </p:sp>
      <p:sp>
        <p:nvSpPr>
          <p:cNvPr id="39" name="Shape 29"/>
          <p:cNvSpPr/>
          <p:nvPr/>
        </p:nvSpPr>
        <p:spPr>
          <a:xfrm>
            <a:off x="5669280" y="3520440"/>
            <a:ext cx="1645920" cy="777240"/>
          </a:xfrm>
          <a:prstGeom prst="rect">
            <a:avLst/>
          </a:prstGeom>
          <a:solidFill>
            <a:srgbClr val="21295C"/>
          </a:solidFill>
          <a:ln/>
        </p:spPr>
      </p:sp>
      <p:pic>
        <p:nvPicPr>
          <p:cNvPr id="40" name="Image 8" descr="preencoded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5806440" y="3703320"/>
            <a:ext cx="365760" cy="365760"/>
          </a:xfrm>
          <a:prstGeom prst="rect">
            <a:avLst/>
          </a:prstGeom>
        </p:spPr>
      </p:pic>
      <p:sp>
        <p:nvSpPr>
          <p:cNvPr id="41" name="Text 30"/>
          <p:cNvSpPr/>
          <p:nvPr/>
        </p:nvSpPr>
        <p:spPr>
          <a:xfrm>
            <a:off x="6217920" y="3657600"/>
            <a:ext cx="1051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FORCE RLS on PHI</a:t>
            </a:r>
            <a:endParaRPr lang="en-US" sz="1100" dirty="0"/>
          </a:p>
        </p:txBody>
      </p:sp>
      <p:sp>
        <p:nvSpPr>
          <p:cNvPr id="42" name="Shape 31"/>
          <p:cNvSpPr/>
          <p:nvPr/>
        </p:nvSpPr>
        <p:spPr>
          <a:xfrm>
            <a:off x="7406640" y="3520440"/>
            <a:ext cx="1645920" cy="777240"/>
          </a:xfrm>
          <a:prstGeom prst="rect">
            <a:avLst/>
          </a:prstGeom>
          <a:solidFill>
            <a:srgbClr val="21295C"/>
          </a:solidFill>
          <a:ln/>
        </p:spPr>
      </p:sp>
      <p:pic>
        <p:nvPicPr>
          <p:cNvPr id="43" name="Image 9" descr="preencoded.png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7543800" y="3703320"/>
            <a:ext cx="365760" cy="365760"/>
          </a:xfrm>
          <a:prstGeom prst="rect">
            <a:avLst/>
          </a:prstGeom>
        </p:spPr>
      </p:pic>
      <p:sp>
        <p:nvSpPr>
          <p:cNvPr id="44" name="Text 32"/>
          <p:cNvSpPr/>
          <p:nvPr/>
        </p:nvSpPr>
        <p:spPr>
          <a:xfrm>
            <a:off x="7955280" y="3657600"/>
            <a:ext cx="1051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L4 DB retry + health</a:t>
            </a:r>
            <a:endParaRPr lang="en-US" sz="1100" dirty="0"/>
          </a:p>
        </p:txBody>
      </p:sp>
      <p:sp>
        <p:nvSpPr>
          <p:cNvPr id="45" name="Text 33"/>
          <p:cNvSpPr/>
          <p:nvPr/>
        </p:nvSpPr>
        <p:spPr>
          <a:xfrm>
            <a:off x="457200" y="452628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Stateless edge handlers · per-trace observability · 15-min health probes.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732520" y="228600"/>
            <a:ext cx="164592" cy="164592"/>
          </a:xfrm>
          <a:prstGeom prst="ellipse">
            <a:avLst/>
          </a:prstGeom>
          <a:solidFill>
            <a:srgbClr val="065A82"/>
          </a:solidFill>
          <a:ln/>
        </p:spPr>
      </p:sp>
      <p:sp>
        <p:nvSpPr>
          <p:cNvPr id="3" name="Shape 1"/>
          <p:cNvSpPr/>
          <p:nvPr/>
        </p:nvSpPr>
        <p:spPr>
          <a:xfrm>
            <a:off x="8503920" y="228600"/>
            <a:ext cx="91440" cy="91440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4" name="Shape 2"/>
          <p:cNvSpPr/>
          <p:nvPr/>
        </p:nvSpPr>
        <p:spPr>
          <a:xfrm>
            <a:off x="8348472" y="228600"/>
            <a:ext cx="54864" cy="54864"/>
          </a:xfrm>
          <a:prstGeom prst="ellipse">
            <a:avLst/>
          </a:prstGeom>
          <a:solidFill>
            <a:srgbClr val="9FE7F5"/>
          </a:solidFill>
          <a:ln/>
        </p:spPr>
      </p:sp>
      <p:sp>
        <p:nvSpPr>
          <p:cNvPr id="5" name="Text 3"/>
          <p:cNvSpPr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Tier Ladder</a:t>
            </a:r>
            <a:endParaRPr lang="en-US" sz="3200" dirty="0"/>
          </a:p>
        </p:txBody>
      </p:sp>
      <p:sp>
        <p:nvSpPr>
          <p:cNvPr id="6" name="Text 4"/>
          <p:cNvSpPr/>
          <p:nvPr/>
        </p:nvSpPr>
        <p:spPr>
          <a:xfrm>
            <a:off x="457200" y="91440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Start free. Scale to forensic-grade as the workforce grows.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457200" y="1554480"/>
            <a:ext cx="2468880" cy="32461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8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457200" y="1554480"/>
            <a:ext cx="2468880" cy="548640"/>
          </a:xfrm>
          <a:prstGeom prst="rect">
            <a:avLst/>
          </a:prstGeom>
          <a:solidFill>
            <a:srgbClr val="94A3B8"/>
          </a:solidFill>
          <a:ln/>
        </p:spPr>
      </p:sp>
      <p:sp>
        <p:nvSpPr>
          <p:cNvPr id="9" name="Text 7"/>
          <p:cNvSpPr/>
          <p:nvPr/>
        </p:nvSpPr>
        <p:spPr>
          <a:xfrm>
            <a:off x="457200" y="1600200"/>
            <a:ext cx="2468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Free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457200" y="2194560"/>
            <a:ext cx="24688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$0</a:t>
            </a:r>
            <a:endParaRPr lang="en-US" sz="3600" dirty="0"/>
          </a:p>
        </p:txBody>
      </p:sp>
      <p:sp>
        <p:nvSpPr>
          <p:cNvPr id="11" name="Text 9"/>
          <p:cNvSpPr/>
          <p:nvPr/>
        </p:nvSpPr>
        <p:spPr>
          <a:xfrm>
            <a:off x="457200" y="2743200"/>
            <a:ext cx="2468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 seat / month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685800" y="3154680"/>
            <a:ext cx="219456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400"/>
              </a:spcAft>
              <a:buSzPct val="100000"/>
              <a:buChar char="●"/>
            </a:pPr>
            <a:r>
              <a:rPr lang="en-US" sz="10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SMS-only fanout</a:t>
            </a:r>
            <a:endParaRPr lang="en-US" sz="1050" dirty="0"/>
          </a:p>
          <a:p>
            <a:pPr marL="342900" indent="-342900">
              <a:spcAft>
                <a:spcPts val="400"/>
              </a:spcAft>
              <a:buSzPct val="100000"/>
              <a:buChar char="●"/>
            </a:pPr>
            <a:r>
              <a:rPr lang="en-US" sz="10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 to 3 contacts</a:t>
            </a:r>
            <a:endParaRPr lang="en-US" sz="1050" dirty="0"/>
          </a:p>
          <a:p>
            <a:pPr marL="342900" indent="-342900">
              <a:spcAft>
                <a:spcPts val="400"/>
              </a:spcAft>
              <a:buSzPct val="100000"/>
              <a:buChar char="●"/>
            </a:pPr>
            <a:r>
              <a:rPr lang="en-US" sz="10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dispatch attempt</a:t>
            </a:r>
            <a:endParaRPr lang="en-US" sz="1050" dirty="0"/>
          </a:p>
          <a:p>
            <a:pPr marL="342900" indent="-342900">
              <a:spcAft>
                <a:spcPts val="400"/>
              </a:spcAft>
              <a:buSzPct val="100000"/>
              <a:buChar char="●"/>
            </a:pPr>
            <a:r>
              <a:rPr lang="en-US" sz="10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Mobile-app trigger</a:t>
            </a:r>
            <a:endParaRPr lang="en-US" sz="1050" dirty="0"/>
          </a:p>
          <a:p>
            <a:pPr marL="342900" indent="-342900">
              <a:spcAft>
                <a:spcPts val="400"/>
              </a:spcAft>
              <a:buSzPct val="100000"/>
              <a:buChar char="●"/>
            </a:pPr>
            <a:r>
              <a:rPr lang="en-US" sz="10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Basic audit timeline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3337560" y="1554480"/>
            <a:ext cx="2468880" cy="32461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8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3337560" y="1554480"/>
            <a:ext cx="2468880" cy="548640"/>
          </a:xfrm>
          <a:prstGeom prst="rect">
            <a:avLst/>
          </a:prstGeom>
          <a:solidFill>
            <a:srgbClr val="065A82"/>
          </a:solidFill>
          <a:ln/>
        </p:spPr>
      </p:sp>
      <p:sp>
        <p:nvSpPr>
          <p:cNvPr id="15" name="Text 13"/>
          <p:cNvSpPr/>
          <p:nvPr/>
        </p:nvSpPr>
        <p:spPr>
          <a:xfrm>
            <a:off x="3337560" y="1600200"/>
            <a:ext cx="2468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Basic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3337560" y="2194560"/>
            <a:ext cx="24688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$8</a:t>
            </a:r>
            <a:endParaRPr lang="en-US" sz="3600" dirty="0"/>
          </a:p>
        </p:txBody>
      </p:sp>
      <p:sp>
        <p:nvSpPr>
          <p:cNvPr id="17" name="Text 15"/>
          <p:cNvSpPr/>
          <p:nvPr/>
        </p:nvSpPr>
        <p:spPr>
          <a:xfrm>
            <a:off x="3337560" y="2743200"/>
            <a:ext cx="2468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 seat / month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3566160" y="3154680"/>
            <a:ext cx="219456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400"/>
              </a:spcAft>
              <a:buSzPct val="100000"/>
              <a:buChar char="●"/>
            </a:pPr>
            <a:r>
              <a:rPr lang="en-US" sz="10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SMS + voice cascade</a:t>
            </a:r>
            <a:endParaRPr lang="en-US" sz="1050" dirty="0"/>
          </a:p>
          <a:p>
            <a:pPr marL="342900" indent="-342900">
              <a:spcAft>
                <a:spcPts val="400"/>
              </a:spcAft>
              <a:buSzPct val="100000"/>
              <a:buChar char="●"/>
            </a:pPr>
            <a:r>
              <a:rPr lang="en-US" sz="10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 to 5 contacts · 2 retries</a:t>
            </a:r>
            <a:endParaRPr lang="en-US" sz="1050" dirty="0"/>
          </a:p>
          <a:p>
            <a:pPr marL="342900" indent="-342900">
              <a:spcAft>
                <a:spcPts val="400"/>
              </a:spcAft>
              <a:buSzPct val="100000"/>
              <a:buChar char="●"/>
            </a:pPr>
            <a:r>
              <a:rPr lang="en-US" sz="10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Admin dashboard + reports</a:t>
            </a:r>
            <a:endParaRPr lang="en-US" sz="1050" dirty="0"/>
          </a:p>
          <a:p>
            <a:pPr marL="342900" indent="-342900">
              <a:spcAft>
                <a:spcPts val="400"/>
              </a:spcAft>
              <a:buSzPct val="100000"/>
              <a:buChar char="●"/>
            </a:pPr>
            <a:r>
              <a:rPr lang="en-US" sz="10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Hash-chained audit log</a:t>
            </a:r>
            <a:endParaRPr lang="en-US" sz="1050" dirty="0"/>
          </a:p>
          <a:p>
            <a:pPr marL="342900" indent="-342900">
              <a:spcAft>
                <a:spcPts val="400"/>
              </a:spcAft>
              <a:buSzPct val="100000"/>
              <a:buChar char="●"/>
            </a:pPr>
            <a:r>
              <a:rPr lang="en-US" sz="10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GDPR Article 15 SAR export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6217920" y="1554480"/>
            <a:ext cx="2468880" cy="32461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8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6217920" y="1554480"/>
            <a:ext cx="2468880" cy="548640"/>
          </a:xfrm>
          <a:prstGeom prst="rect">
            <a:avLst/>
          </a:prstGeom>
          <a:solidFill>
            <a:srgbClr val="21295C"/>
          </a:solidFill>
          <a:ln/>
        </p:spPr>
      </p:sp>
      <p:sp>
        <p:nvSpPr>
          <p:cNvPr id="21" name="Text 19"/>
          <p:cNvSpPr/>
          <p:nvPr/>
        </p:nvSpPr>
        <p:spPr>
          <a:xfrm>
            <a:off x="6217920" y="1600200"/>
            <a:ext cx="2468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Elite</a:t>
            </a:r>
            <a:endParaRPr lang="en-US" sz="1800" dirty="0"/>
          </a:p>
        </p:txBody>
      </p:sp>
      <p:sp>
        <p:nvSpPr>
          <p:cNvPr id="22" name="Text 20"/>
          <p:cNvSpPr/>
          <p:nvPr/>
        </p:nvSpPr>
        <p:spPr>
          <a:xfrm>
            <a:off x="6217920" y="2194560"/>
            <a:ext cx="24688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$24</a:t>
            </a:r>
            <a:endParaRPr lang="en-US" sz="3600" dirty="0"/>
          </a:p>
        </p:txBody>
      </p:sp>
      <p:sp>
        <p:nvSpPr>
          <p:cNvPr id="23" name="Text 21"/>
          <p:cNvSpPr/>
          <p:nvPr/>
        </p:nvSpPr>
        <p:spPr>
          <a:xfrm>
            <a:off x="6217920" y="2743200"/>
            <a:ext cx="2468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 seat / month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6446520" y="3154680"/>
            <a:ext cx="219456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400"/>
              </a:spcAft>
              <a:buSzPct val="100000"/>
              <a:buChar char="●"/>
            </a:pPr>
            <a:r>
              <a:rPr lang="en-US" sz="10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Everything in Basic, plus:</a:t>
            </a:r>
            <a:endParaRPr lang="en-US" sz="1050" dirty="0"/>
          </a:p>
          <a:p>
            <a:pPr marL="342900" indent="-342900">
              <a:spcAft>
                <a:spcPts val="400"/>
              </a:spcAft>
              <a:buSzPct val="100000"/>
              <a:buChar char="●"/>
            </a:pPr>
            <a:r>
              <a:rPr lang="en-US" sz="10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conference bridge</a:t>
            </a:r>
            <a:endParaRPr lang="en-US" sz="1050" dirty="0"/>
          </a:p>
          <a:p>
            <a:pPr marL="342900" indent="-342900">
              <a:spcAft>
                <a:spcPts val="400"/>
              </a:spcAft>
              <a:buSzPct val="100000"/>
              <a:buChar char="●"/>
            </a:pPr>
            <a:r>
              <a:rPr lang="en-US" sz="10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Forensic photo + audio capture</a:t>
            </a:r>
            <a:endParaRPr lang="en-US" sz="1050" dirty="0"/>
          </a:p>
          <a:p>
            <a:pPr marL="342900" indent="-342900">
              <a:spcAft>
                <a:spcPts val="400"/>
              </a:spcAft>
              <a:buSzPct val="100000"/>
              <a:buChar char="●"/>
            </a:pPr>
            <a:r>
              <a:rPr lang="en-US" sz="10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multilingual scripts (AR / EN)</a:t>
            </a:r>
            <a:endParaRPr lang="en-US" sz="1050" dirty="0"/>
          </a:p>
          <a:p>
            <a:pPr marL="342900" indent="-342900">
              <a:spcAft>
                <a:spcPts val="400"/>
              </a:spcAft>
              <a:buSzPct val="100000"/>
              <a:buChar char="●"/>
            </a:pPr>
            <a:r>
              <a:rPr lang="en-US" sz="10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Continuous drift monitoring</a:t>
            </a:r>
            <a:endParaRPr lang="en-US" sz="10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732520" y="228600"/>
            <a:ext cx="164592" cy="164592"/>
          </a:xfrm>
          <a:prstGeom prst="ellipse">
            <a:avLst/>
          </a:prstGeom>
          <a:solidFill>
            <a:srgbClr val="065A82"/>
          </a:solidFill>
          <a:ln/>
        </p:spPr>
      </p:sp>
      <p:sp>
        <p:nvSpPr>
          <p:cNvPr id="3" name="Shape 1"/>
          <p:cNvSpPr/>
          <p:nvPr/>
        </p:nvSpPr>
        <p:spPr>
          <a:xfrm>
            <a:off x="8503920" y="228600"/>
            <a:ext cx="91440" cy="91440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4" name="Shape 2"/>
          <p:cNvSpPr/>
          <p:nvPr/>
        </p:nvSpPr>
        <p:spPr>
          <a:xfrm>
            <a:off x="8348472" y="228600"/>
            <a:ext cx="54864" cy="54864"/>
          </a:xfrm>
          <a:prstGeom prst="ellipse">
            <a:avLst/>
          </a:prstGeom>
          <a:solidFill>
            <a:srgbClr val="9FE7F5"/>
          </a:solidFill>
          <a:ln/>
        </p:spPr>
      </p:sp>
      <p:sp>
        <p:nvSpPr>
          <p:cNvPr id="5" name="Text 3"/>
          <p:cNvSpPr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Foundation Pyramid — 100% Complete</a:t>
            </a:r>
            <a:endParaRPr lang="en-US" sz="3000" dirty="0"/>
          </a:p>
        </p:txBody>
      </p:sp>
      <p:sp>
        <p:nvSpPr>
          <p:cNvPr id="6" name="Text 4"/>
          <p:cNvSpPr/>
          <p:nvPr/>
        </p:nvSpPr>
        <p:spPr>
          <a:xfrm>
            <a:off x="457200" y="91440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Five engineering layers. Each carries its own invariant test suite.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1600200" y="1508760"/>
            <a:ext cx="5943600" cy="457200"/>
          </a:xfrm>
          <a:prstGeom prst="rect">
            <a:avLst/>
          </a:prstGeom>
          <a:solidFill>
            <a:srgbClr val="065A82"/>
          </a:solidFill>
          <a:ln/>
        </p:spPr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737360" y="1600200"/>
            <a:ext cx="274320" cy="274320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2103120" y="1508760"/>
            <a:ext cx="2011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L1 · Observability</a:t>
            </a:r>
            <a:endParaRPr lang="en-US" sz="1300" dirty="0"/>
          </a:p>
        </p:txBody>
      </p:sp>
      <p:sp>
        <p:nvSpPr>
          <p:cNvPr id="10" name="Text 7"/>
          <p:cNvSpPr/>
          <p:nvPr/>
        </p:nvSpPr>
        <p:spPr>
          <a:xfrm>
            <a:off x="4114800" y="1508760"/>
            <a:ext cx="33375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Probes + cron + audit chain + drift detection</a:t>
            </a:r>
            <a:endParaRPr lang="en-US" sz="1100" dirty="0"/>
          </a:p>
        </p:txBody>
      </p:sp>
      <p:sp>
        <p:nvSpPr>
          <p:cNvPr id="11" name="Shape 8"/>
          <p:cNvSpPr/>
          <p:nvPr/>
        </p:nvSpPr>
        <p:spPr>
          <a:xfrm>
            <a:off x="1371600" y="2057400"/>
            <a:ext cx="6400800" cy="457200"/>
          </a:xfrm>
          <a:prstGeom prst="rect">
            <a:avLst/>
          </a:prstGeom>
          <a:solidFill>
            <a:srgbClr val="1C7293"/>
          </a:solidFill>
          <a:ln/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08760" y="2148840"/>
            <a:ext cx="274320" cy="274320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1874520" y="2057400"/>
            <a:ext cx="2011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L2 · Pipeline</a:t>
            </a:r>
            <a:endParaRPr lang="en-US" sz="1300" dirty="0"/>
          </a:p>
        </p:txBody>
      </p:sp>
      <p:sp>
        <p:nvSpPr>
          <p:cNvPr id="14" name="Text 10"/>
          <p:cNvSpPr/>
          <p:nvPr/>
        </p:nvSpPr>
        <p:spPr>
          <a:xfrm>
            <a:off x="3886200" y="2057400"/>
            <a:ext cx="3794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SOS dispatch + voice cascade + inbound SMS + forensic</a:t>
            </a:r>
            <a:endParaRPr lang="en-US" sz="1100" dirty="0"/>
          </a:p>
        </p:txBody>
      </p:sp>
      <p:sp>
        <p:nvSpPr>
          <p:cNvPr id="15" name="Shape 11"/>
          <p:cNvSpPr/>
          <p:nvPr/>
        </p:nvSpPr>
        <p:spPr>
          <a:xfrm>
            <a:off x="1143000" y="2606040"/>
            <a:ext cx="6858000" cy="457200"/>
          </a:xfrm>
          <a:prstGeom prst="rect">
            <a:avLst/>
          </a:prstGeom>
          <a:solidFill>
            <a:srgbClr val="065A82"/>
          </a:solidFill>
          <a:ln/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0160" y="2697480"/>
            <a:ext cx="274320" cy="274320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1645920" y="2606040"/>
            <a:ext cx="2011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L3 · Client</a:t>
            </a:r>
            <a:endParaRPr lang="en-US" sz="1300" dirty="0"/>
          </a:p>
        </p:txBody>
      </p:sp>
      <p:sp>
        <p:nvSpPr>
          <p:cNvPr id="18" name="Text 13"/>
          <p:cNvSpPr/>
          <p:nvPr/>
        </p:nvSpPr>
        <p:spPr>
          <a:xfrm>
            <a:off x="3657600" y="2606040"/>
            <a:ext cx="4251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Lazy-loaded bundles + verified DB indexes</a:t>
            </a:r>
            <a:endParaRPr lang="en-US" sz="1100" dirty="0"/>
          </a:p>
        </p:txBody>
      </p:sp>
      <p:sp>
        <p:nvSpPr>
          <p:cNvPr id="19" name="Shape 14"/>
          <p:cNvSpPr/>
          <p:nvPr/>
        </p:nvSpPr>
        <p:spPr>
          <a:xfrm>
            <a:off x="914400" y="3154680"/>
            <a:ext cx="7315200" cy="457200"/>
          </a:xfrm>
          <a:prstGeom prst="rect">
            <a:avLst/>
          </a:prstGeom>
          <a:solidFill>
            <a:srgbClr val="1C7293"/>
          </a:solidFill>
          <a:ln/>
        </p:spPr>
      </p:sp>
      <p:pic>
        <p:nvPicPr>
          <p:cNvPr id="20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51560" y="3246120"/>
            <a:ext cx="274320" cy="274320"/>
          </a:xfrm>
          <a:prstGeom prst="rect">
            <a:avLst/>
          </a:prstGeom>
        </p:spPr>
      </p:pic>
      <p:sp>
        <p:nvSpPr>
          <p:cNvPr id="21" name="Text 15"/>
          <p:cNvSpPr/>
          <p:nvPr/>
        </p:nvSpPr>
        <p:spPr>
          <a:xfrm>
            <a:off x="1417320" y="3154680"/>
            <a:ext cx="2011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L4 · Resilience</a:t>
            </a:r>
            <a:endParaRPr lang="en-US" sz="1300" dirty="0"/>
          </a:p>
        </p:txBody>
      </p:sp>
      <p:sp>
        <p:nvSpPr>
          <p:cNvPr id="22" name="Text 16"/>
          <p:cNvSpPr/>
          <p:nvPr/>
        </p:nvSpPr>
        <p:spPr>
          <a:xfrm>
            <a:off x="3429000" y="3154680"/>
            <a:ext cx="4709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DB retry-with-backoff + public health endpoint</a:t>
            </a:r>
            <a:endParaRPr lang="en-US" sz="1100" dirty="0"/>
          </a:p>
        </p:txBody>
      </p:sp>
      <p:sp>
        <p:nvSpPr>
          <p:cNvPr id="23" name="Shape 17"/>
          <p:cNvSpPr/>
          <p:nvPr/>
        </p:nvSpPr>
        <p:spPr>
          <a:xfrm>
            <a:off x="685800" y="3703320"/>
            <a:ext cx="7772400" cy="457200"/>
          </a:xfrm>
          <a:prstGeom prst="rect">
            <a:avLst/>
          </a:prstGeom>
          <a:solidFill>
            <a:srgbClr val="065A82"/>
          </a:solidFill>
          <a:ln/>
        </p:spPr>
      </p:sp>
      <p:pic>
        <p:nvPicPr>
          <p:cNvPr id="24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22960" y="3794760"/>
            <a:ext cx="274320" cy="274320"/>
          </a:xfrm>
          <a:prstGeom prst="rect">
            <a:avLst/>
          </a:prstGeom>
        </p:spPr>
      </p:pic>
      <p:sp>
        <p:nvSpPr>
          <p:cNvPr id="25" name="Text 18"/>
          <p:cNvSpPr/>
          <p:nvPr/>
        </p:nvSpPr>
        <p:spPr>
          <a:xfrm>
            <a:off x="1188720" y="3703320"/>
            <a:ext cx="2011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L5 · Launch Readiness</a:t>
            </a:r>
            <a:endParaRPr lang="en-US" sz="1300" dirty="0"/>
          </a:p>
        </p:txBody>
      </p:sp>
      <p:sp>
        <p:nvSpPr>
          <p:cNvPr id="26" name="Text 19"/>
          <p:cNvSpPr/>
          <p:nvPr/>
        </p:nvSpPr>
        <p:spPr>
          <a:xfrm>
            <a:off x="3200400" y="3703320"/>
            <a:ext cx="5166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RUNBOOK + .env.example + auto-fix + security review</a:t>
            </a:r>
            <a:endParaRPr lang="en-US" sz="1100" dirty="0"/>
          </a:p>
        </p:txBody>
      </p:sp>
      <p:sp>
        <p:nvSpPr>
          <p:cNvPr id="27" name="Shape 20"/>
          <p:cNvSpPr/>
          <p:nvPr/>
        </p:nvSpPr>
        <p:spPr>
          <a:xfrm>
            <a:off x="1371600" y="4526280"/>
            <a:ext cx="6400800" cy="365760"/>
          </a:xfrm>
          <a:prstGeom prst="rect">
            <a:avLst/>
          </a:prstGeom>
          <a:solidFill>
            <a:srgbClr val="21295C"/>
          </a:solidFill>
          <a:ln/>
        </p:spPr>
      </p:sp>
      <p:sp>
        <p:nvSpPr>
          <p:cNvPr id="28" name="Text 21"/>
          <p:cNvSpPr/>
          <p:nvPr/>
        </p:nvSpPr>
        <p:spPr>
          <a:xfrm>
            <a:off x="1371600" y="4526280"/>
            <a:ext cx="6400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180+ invariant tests · 15-min cron · 100% deploy-verified</a:t>
            </a:r>
            <a:endParaRPr lang="en-US" sz="12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732520" y="228600"/>
            <a:ext cx="164592" cy="164592"/>
          </a:xfrm>
          <a:prstGeom prst="ellipse">
            <a:avLst/>
          </a:prstGeom>
          <a:solidFill>
            <a:srgbClr val="065A82"/>
          </a:solidFill>
          <a:ln/>
        </p:spPr>
      </p:sp>
      <p:sp>
        <p:nvSpPr>
          <p:cNvPr id="3" name="Shape 1"/>
          <p:cNvSpPr/>
          <p:nvPr/>
        </p:nvSpPr>
        <p:spPr>
          <a:xfrm>
            <a:off x="8503920" y="228600"/>
            <a:ext cx="91440" cy="91440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4" name="Shape 2"/>
          <p:cNvSpPr/>
          <p:nvPr/>
        </p:nvSpPr>
        <p:spPr>
          <a:xfrm>
            <a:off x="8348472" y="228600"/>
            <a:ext cx="54864" cy="54864"/>
          </a:xfrm>
          <a:prstGeom prst="ellipse">
            <a:avLst/>
          </a:prstGeom>
          <a:solidFill>
            <a:srgbClr val="9FE7F5"/>
          </a:solidFill>
          <a:ln/>
        </p:spPr>
      </p:sp>
      <p:sp>
        <p:nvSpPr>
          <p:cNvPr id="5" name="Text 3"/>
          <p:cNvSpPr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Security &amp; Compliance Posture</a:t>
            </a:r>
            <a:endParaRPr lang="en-US" sz="3200" dirty="0"/>
          </a:p>
        </p:txBody>
      </p:sp>
      <p:sp>
        <p:nvSpPr>
          <p:cNvPr id="6" name="Text 4"/>
          <p:cNvSpPr/>
          <p:nvPr/>
        </p:nvSpPr>
        <p:spPr>
          <a:xfrm>
            <a:off x="457200" y="91440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Pre-launch security review closed: 1 Critical · 3 High · 5 Medium — all addressed.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457200" y="1508760"/>
            <a:ext cx="2743200" cy="13716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594360" y="1645920"/>
            <a:ext cx="411480" cy="411480"/>
          </a:xfrm>
          <a:prstGeom prst="ellipse">
            <a:avLst/>
          </a:prstGeom>
          <a:solidFill>
            <a:srgbClr val="21295C"/>
          </a:solidFill>
          <a:ln/>
        </p:spPr>
      </p:sp>
      <p:pic>
        <p:nvPicPr>
          <p:cNvPr id="9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62940" y="1714500"/>
            <a:ext cx="274320" cy="274320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1097280" y="1618488"/>
            <a:ext cx="2011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Hash-chained audit log</a:t>
            </a:r>
            <a:endParaRPr lang="en-US" sz="1200" dirty="0"/>
          </a:p>
        </p:txBody>
      </p:sp>
      <p:sp>
        <p:nvSpPr>
          <p:cNvPr id="11" name="Text 8"/>
          <p:cNvSpPr/>
          <p:nvPr/>
        </p:nvSpPr>
        <p:spPr>
          <a:xfrm>
            <a:off x="594360" y="2148840"/>
            <a:ext cx="24688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L2-D forensic ledger. Each row's hash signs prev_hash; deletions detected by verify_audit_chain.</a:t>
            </a:r>
            <a:endParaRPr lang="en-US" sz="900" dirty="0"/>
          </a:p>
        </p:txBody>
      </p:sp>
      <p:sp>
        <p:nvSpPr>
          <p:cNvPr id="12" name="Shape 9"/>
          <p:cNvSpPr/>
          <p:nvPr/>
        </p:nvSpPr>
        <p:spPr>
          <a:xfrm>
            <a:off x="3337560" y="1508760"/>
            <a:ext cx="2743200" cy="13716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3" name="Shape 10"/>
          <p:cNvSpPr/>
          <p:nvPr/>
        </p:nvSpPr>
        <p:spPr>
          <a:xfrm>
            <a:off x="3474720" y="1645920"/>
            <a:ext cx="411480" cy="411480"/>
          </a:xfrm>
          <a:prstGeom prst="ellipse">
            <a:avLst/>
          </a:prstGeom>
          <a:solidFill>
            <a:srgbClr val="21295C"/>
          </a:solidFill>
          <a:ln/>
        </p:spPr>
      </p:sp>
      <p:pic>
        <p:nvPicPr>
          <p:cNvPr id="14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43300" y="1714500"/>
            <a:ext cx="274320" cy="274320"/>
          </a:xfrm>
          <a:prstGeom prst="rect">
            <a:avLst/>
          </a:prstGeom>
        </p:spPr>
      </p:pic>
      <p:sp>
        <p:nvSpPr>
          <p:cNvPr id="15" name="Text 11"/>
          <p:cNvSpPr/>
          <p:nvPr/>
        </p:nvSpPr>
        <p:spPr>
          <a:xfrm>
            <a:off x="3977640" y="1618488"/>
            <a:ext cx="2011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RLS on every PHI table</a:t>
            </a:r>
            <a:endParaRPr lang="en-US" sz="1200" dirty="0"/>
          </a:p>
        </p:txBody>
      </p:sp>
      <p:sp>
        <p:nvSpPr>
          <p:cNvPr id="16" name="Text 12"/>
          <p:cNvSpPr/>
          <p:nvPr/>
        </p:nvSpPr>
        <p:spPr>
          <a:xfrm>
            <a:off x="3474720" y="2148840"/>
            <a:ext cx="24688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FORCE ROW LEVEL SECURITY. Service-role bypass + tenant-scoped policies; cross-tenant reads denied.</a:t>
            </a:r>
            <a:endParaRPr lang="en-US" sz="900" dirty="0"/>
          </a:p>
        </p:txBody>
      </p:sp>
      <p:sp>
        <p:nvSpPr>
          <p:cNvPr id="17" name="Shape 13"/>
          <p:cNvSpPr/>
          <p:nvPr/>
        </p:nvSpPr>
        <p:spPr>
          <a:xfrm>
            <a:off x="6217920" y="1508760"/>
            <a:ext cx="2743200" cy="13716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8" name="Shape 14"/>
          <p:cNvSpPr/>
          <p:nvPr/>
        </p:nvSpPr>
        <p:spPr>
          <a:xfrm>
            <a:off x="6355080" y="1645920"/>
            <a:ext cx="411480" cy="411480"/>
          </a:xfrm>
          <a:prstGeom prst="ellipse">
            <a:avLst/>
          </a:prstGeom>
          <a:solidFill>
            <a:srgbClr val="21295C"/>
          </a:solidFill>
          <a:ln/>
        </p:spPr>
      </p:sp>
      <p:pic>
        <p:nvPicPr>
          <p:cNvPr id="19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23660" y="1714500"/>
            <a:ext cx="274320" cy="274320"/>
          </a:xfrm>
          <a:prstGeom prst="rect">
            <a:avLst/>
          </a:prstGeom>
        </p:spPr>
      </p:pic>
      <p:sp>
        <p:nvSpPr>
          <p:cNvPr id="20" name="Text 15"/>
          <p:cNvSpPr/>
          <p:nvPr/>
        </p:nvSpPr>
        <p:spPr>
          <a:xfrm>
            <a:off x="6858000" y="1618488"/>
            <a:ext cx="2011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Twilio-signed webhooks</a:t>
            </a:r>
            <a:endParaRPr lang="en-US" sz="1200" dirty="0"/>
          </a:p>
        </p:txBody>
      </p:sp>
      <p:sp>
        <p:nvSpPr>
          <p:cNvPr id="21" name="Text 16"/>
          <p:cNvSpPr/>
          <p:nvPr/>
        </p:nvSpPr>
        <p:spPr>
          <a:xfrm>
            <a:off x="6355080" y="2148840"/>
            <a:ext cx="24688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HMAC-SHA1 over URL+body. Constant-time compare. Dual URL-form tolerance (form A + form B).</a:t>
            </a:r>
            <a:endParaRPr lang="en-US" sz="900" dirty="0"/>
          </a:p>
        </p:txBody>
      </p:sp>
      <p:sp>
        <p:nvSpPr>
          <p:cNvPr id="22" name="Shape 17"/>
          <p:cNvSpPr/>
          <p:nvPr/>
        </p:nvSpPr>
        <p:spPr>
          <a:xfrm>
            <a:off x="457200" y="3017520"/>
            <a:ext cx="2743200" cy="13716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3" name="Shape 18"/>
          <p:cNvSpPr/>
          <p:nvPr/>
        </p:nvSpPr>
        <p:spPr>
          <a:xfrm>
            <a:off x="594360" y="3154680"/>
            <a:ext cx="411480" cy="411480"/>
          </a:xfrm>
          <a:prstGeom prst="ellipse">
            <a:avLst/>
          </a:prstGeom>
          <a:solidFill>
            <a:srgbClr val="21295C"/>
          </a:solidFill>
          <a:ln/>
        </p:spPr>
      </p:sp>
      <p:pic>
        <p:nvPicPr>
          <p:cNvPr id="24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2940" y="3223260"/>
            <a:ext cx="274320" cy="274320"/>
          </a:xfrm>
          <a:prstGeom prst="rect">
            <a:avLst/>
          </a:prstGeom>
        </p:spPr>
      </p:pic>
      <p:sp>
        <p:nvSpPr>
          <p:cNvPr id="25" name="Text 19"/>
          <p:cNvSpPr/>
          <p:nvPr/>
        </p:nvSpPr>
        <p:spPr>
          <a:xfrm>
            <a:off x="1097280" y="3127248"/>
            <a:ext cx="2011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GDPR Article 15 SAR</a:t>
            </a:r>
            <a:endParaRPr lang="en-US" sz="1200" dirty="0"/>
          </a:p>
        </p:txBody>
      </p:sp>
      <p:sp>
        <p:nvSpPr>
          <p:cNvPr id="26" name="Text 20"/>
          <p:cNvSpPr/>
          <p:nvPr/>
        </p:nvSpPr>
        <p:spPr>
          <a:xfrm>
            <a:off x="594360" y="3657600"/>
            <a:ext cx="24688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Per-user export endpoint with 30-day cooldown, audit row, and PHI-complete table spec.</a:t>
            </a:r>
            <a:endParaRPr lang="en-US" sz="900" dirty="0"/>
          </a:p>
        </p:txBody>
      </p:sp>
      <p:sp>
        <p:nvSpPr>
          <p:cNvPr id="27" name="Shape 21"/>
          <p:cNvSpPr/>
          <p:nvPr/>
        </p:nvSpPr>
        <p:spPr>
          <a:xfrm>
            <a:off x="3337560" y="3017520"/>
            <a:ext cx="2743200" cy="13716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8" name="Shape 22"/>
          <p:cNvSpPr/>
          <p:nvPr/>
        </p:nvSpPr>
        <p:spPr>
          <a:xfrm>
            <a:off x="3474720" y="3154680"/>
            <a:ext cx="411480" cy="411480"/>
          </a:xfrm>
          <a:prstGeom prst="ellipse">
            <a:avLst/>
          </a:prstGeom>
          <a:solidFill>
            <a:srgbClr val="21295C"/>
          </a:solidFill>
          <a:ln/>
        </p:spPr>
      </p:sp>
      <p:pic>
        <p:nvPicPr>
          <p:cNvPr id="29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543300" y="3223260"/>
            <a:ext cx="274320" cy="274320"/>
          </a:xfrm>
          <a:prstGeom prst="rect">
            <a:avLst/>
          </a:prstGeom>
        </p:spPr>
      </p:pic>
      <p:sp>
        <p:nvSpPr>
          <p:cNvPr id="30" name="Text 23"/>
          <p:cNvSpPr/>
          <p:nvPr/>
        </p:nvSpPr>
        <p:spPr>
          <a:xfrm>
            <a:off x="3977640" y="3127248"/>
            <a:ext cx="2011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Defense-in-depth</a:t>
            </a:r>
            <a:endParaRPr lang="en-US" sz="1200" dirty="0"/>
          </a:p>
        </p:txBody>
      </p:sp>
      <p:sp>
        <p:nvSpPr>
          <p:cNvPr id="31" name="Text 24"/>
          <p:cNvSpPr/>
          <p:nvPr/>
        </p:nvSpPr>
        <p:spPr>
          <a:xfrm>
            <a:off x="3474720" y="3657600"/>
            <a:ext cx="24688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verify_jwt + signed gather tokens + constant-time secret compares + structured error redaction.</a:t>
            </a:r>
            <a:endParaRPr lang="en-US" sz="900" dirty="0"/>
          </a:p>
        </p:txBody>
      </p:sp>
      <p:sp>
        <p:nvSpPr>
          <p:cNvPr id="32" name="Shape 25"/>
          <p:cNvSpPr/>
          <p:nvPr/>
        </p:nvSpPr>
        <p:spPr>
          <a:xfrm>
            <a:off x="6217920" y="3017520"/>
            <a:ext cx="2743200" cy="13716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3" name="Shape 26"/>
          <p:cNvSpPr/>
          <p:nvPr/>
        </p:nvSpPr>
        <p:spPr>
          <a:xfrm>
            <a:off x="6355080" y="3154680"/>
            <a:ext cx="411480" cy="411480"/>
          </a:xfrm>
          <a:prstGeom prst="ellipse">
            <a:avLst/>
          </a:prstGeom>
          <a:solidFill>
            <a:srgbClr val="21295C"/>
          </a:solidFill>
          <a:ln/>
        </p:spPr>
      </p:sp>
      <p:pic>
        <p:nvPicPr>
          <p:cNvPr id="34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423660" y="3223260"/>
            <a:ext cx="274320" cy="274320"/>
          </a:xfrm>
          <a:prstGeom prst="rect">
            <a:avLst/>
          </a:prstGeom>
        </p:spPr>
      </p:pic>
      <p:sp>
        <p:nvSpPr>
          <p:cNvPr id="35" name="Text 27"/>
          <p:cNvSpPr/>
          <p:nvPr/>
        </p:nvSpPr>
        <p:spPr>
          <a:xfrm>
            <a:off x="6858000" y="3127248"/>
            <a:ext cx="2011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Continuous drift probes</a:t>
            </a:r>
            <a:endParaRPr lang="en-US" sz="1200" dirty="0"/>
          </a:p>
        </p:txBody>
      </p:sp>
      <p:sp>
        <p:nvSpPr>
          <p:cNvPr id="36" name="Text 28"/>
          <p:cNvSpPr/>
          <p:nvPr/>
        </p:nvSpPr>
        <p:spPr>
          <a:xfrm>
            <a:off x="6355080" y="3657600"/>
            <a:ext cx="24688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15 min: telephony config + signature canon + inbound pipeline end-to-end. Email-on-fail.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732520" y="228600"/>
            <a:ext cx="164592" cy="164592"/>
          </a:xfrm>
          <a:prstGeom prst="ellipse">
            <a:avLst/>
          </a:prstGeom>
          <a:solidFill>
            <a:srgbClr val="065A82"/>
          </a:solidFill>
          <a:ln/>
        </p:spPr>
      </p:sp>
      <p:sp>
        <p:nvSpPr>
          <p:cNvPr id="3" name="Shape 1"/>
          <p:cNvSpPr/>
          <p:nvPr/>
        </p:nvSpPr>
        <p:spPr>
          <a:xfrm>
            <a:off x="8503920" y="228600"/>
            <a:ext cx="91440" cy="91440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4" name="Shape 2"/>
          <p:cNvSpPr/>
          <p:nvPr/>
        </p:nvSpPr>
        <p:spPr>
          <a:xfrm>
            <a:off x="8348472" y="228600"/>
            <a:ext cx="54864" cy="54864"/>
          </a:xfrm>
          <a:prstGeom prst="ellipse">
            <a:avLst/>
          </a:prstGeom>
          <a:solidFill>
            <a:srgbClr val="9FE7F5"/>
          </a:solidFill>
          <a:ln/>
        </p:spPr>
      </p:sp>
      <p:sp>
        <p:nvSpPr>
          <p:cNvPr id="5" name="Text 3"/>
          <p:cNvSpPr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Now</a:t>
            </a:r>
            <a:endParaRPr lang="en-US" sz="3600" dirty="0"/>
          </a:p>
        </p:txBody>
      </p:sp>
      <p:sp>
        <p:nvSpPr>
          <p:cNvPr id="6" name="Text 4"/>
          <p:cNvSpPr/>
          <p:nvPr/>
        </p:nvSpPr>
        <p:spPr>
          <a:xfrm>
            <a:off x="457200" y="91440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Four tailwinds, converging. SOSphere is positioned at the inflection point.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457200" y="1508760"/>
            <a:ext cx="3931920" cy="15087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640080" y="1737360"/>
            <a:ext cx="502920" cy="502920"/>
          </a:xfrm>
          <a:prstGeom prst="ellipse">
            <a:avLst/>
          </a:prstGeom>
          <a:solidFill>
            <a:srgbClr val="1C7293"/>
          </a:solidFill>
          <a:ln/>
        </p:spPr>
      </p:sp>
      <p:pic>
        <p:nvPicPr>
          <p:cNvPr id="9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31520" y="1819656"/>
            <a:ext cx="320040" cy="320040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1280160" y="1691640"/>
            <a:ext cx="2926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Regulatory</a:t>
            </a:r>
            <a:endParaRPr lang="en-US" sz="1600" dirty="0"/>
          </a:p>
        </p:txBody>
      </p:sp>
      <p:sp>
        <p:nvSpPr>
          <p:cNvPr id="11" name="Text 8"/>
          <p:cNvSpPr/>
          <p:nvPr/>
        </p:nvSpPr>
        <p:spPr>
          <a:xfrm>
            <a:off x="685800" y="2286000"/>
            <a:ext cx="35204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MENA OHS councils adopting OSHA-equivalent lone-worker rules through 2026–2027. Audit trails becoming mandatory.</a:t>
            </a:r>
            <a:endParaRPr lang="en-US" sz="1100" dirty="0"/>
          </a:p>
        </p:txBody>
      </p:sp>
      <p:sp>
        <p:nvSpPr>
          <p:cNvPr id="12" name="Shape 9"/>
          <p:cNvSpPr/>
          <p:nvPr/>
        </p:nvSpPr>
        <p:spPr>
          <a:xfrm>
            <a:off x="4754880" y="1508760"/>
            <a:ext cx="3931920" cy="15087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3" name="Shape 10"/>
          <p:cNvSpPr/>
          <p:nvPr/>
        </p:nvSpPr>
        <p:spPr>
          <a:xfrm>
            <a:off x="4937760" y="1737360"/>
            <a:ext cx="502920" cy="502920"/>
          </a:xfrm>
          <a:prstGeom prst="ellipse">
            <a:avLst/>
          </a:prstGeom>
          <a:solidFill>
            <a:srgbClr val="1C7293"/>
          </a:solidFill>
          <a:ln/>
        </p:spPr>
      </p:sp>
      <p:pic>
        <p:nvPicPr>
          <p:cNvPr id="14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0" y="1819656"/>
            <a:ext cx="320040" cy="320040"/>
          </a:xfrm>
          <a:prstGeom prst="rect">
            <a:avLst/>
          </a:prstGeom>
        </p:spPr>
      </p:pic>
      <p:sp>
        <p:nvSpPr>
          <p:cNvPr id="15" name="Text 11"/>
          <p:cNvSpPr/>
          <p:nvPr/>
        </p:nvSpPr>
        <p:spPr>
          <a:xfrm>
            <a:off x="5577840" y="1691640"/>
            <a:ext cx="2926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Workforce</a:t>
            </a:r>
            <a:endParaRPr lang="en-US" sz="1600" dirty="0"/>
          </a:p>
        </p:txBody>
      </p:sp>
      <p:sp>
        <p:nvSpPr>
          <p:cNvPr id="16" name="Text 12"/>
          <p:cNvSpPr/>
          <p:nvPr/>
        </p:nvSpPr>
        <p:spPr>
          <a:xfrm>
            <a:off x="4983480" y="2286000"/>
            <a:ext cx="35204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Post-COVID, field employees expect employer-provided safety tech. Retention lever, not just compliance.</a:t>
            </a:r>
            <a:endParaRPr lang="en-US" sz="1100" dirty="0"/>
          </a:p>
        </p:txBody>
      </p:sp>
      <p:sp>
        <p:nvSpPr>
          <p:cNvPr id="17" name="Shape 13"/>
          <p:cNvSpPr/>
          <p:nvPr/>
        </p:nvSpPr>
        <p:spPr>
          <a:xfrm>
            <a:off x="457200" y="3200400"/>
            <a:ext cx="3931920" cy="15087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8" name="Shape 14"/>
          <p:cNvSpPr/>
          <p:nvPr/>
        </p:nvSpPr>
        <p:spPr>
          <a:xfrm>
            <a:off x="640080" y="3429000"/>
            <a:ext cx="502920" cy="502920"/>
          </a:xfrm>
          <a:prstGeom prst="ellipse">
            <a:avLst/>
          </a:prstGeom>
          <a:solidFill>
            <a:srgbClr val="1C7293"/>
          </a:solidFill>
          <a:ln/>
        </p:spPr>
      </p:sp>
      <p:pic>
        <p:nvPicPr>
          <p:cNvPr id="19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1520" y="3511296"/>
            <a:ext cx="320040" cy="320040"/>
          </a:xfrm>
          <a:prstGeom prst="rect">
            <a:avLst/>
          </a:prstGeom>
        </p:spPr>
      </p:pic>
      <p:sp>
        <p:nvSpPr>
          <p:cNvPr id="20" name="Text 15"/>
          <p:cNvSpPr/>
          <p:nvPr/>
        </p:nvSpPr>
        <p:spPr>
          <a:xfrm>
            <a:off x="1280160" y="3383280"/>
            <a:ext cx="2926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Insurance</a:t>
            </a:r>
            <a:endParaRPr lang="en-US" sz="1600" dirty="0"/>
          </a:p>
        </p:txBody>
      </p:sp>
      <p:sp>
        <p:nvSpPr>
          <p:cNvPr id="21" name="Text 16"/>
          <p:cNvSpPr/>
          <p:nvPr/>
        </p:nvSpPr>
        <p:spPr>
          <a:xfrm>
            <a:off x="685800" y="3977640"/>
            <a:ext cx="35204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Carriers offer 8–15% premium discounts for companies with continuous safety monitoring (Munich Re, 2025).</a:t>
            </a:r>
            <a:endParaRPr lang="en-US" sz="1100" dirty="0"/>
          </a:p>
        </p:txBody>
      </p:sp>
      <p:sp>
        <p:nvSpPr>
          <p:cNvPr id="22" name="Shape 17"/>
          <p:cNvSpPr/>
          <p:nvPr/>
        </p:nvSpPr>
        <p:spPr>
          <a:xfrm>
            <a:off x="4754880" y="3200400"/>
            <a:ext cx="3931920" cy="15087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3" name="Shape 18"/>
          <p:cNvSpPr/>
          <p:nvPr/>
        </p:nvSpPr>
        <p:spPr>
          <a:xfrm>
            <a:off x="4937760" y="3429000"/>
            <a:ext cx="502920" cy="502920"/>
          </a:xfrm>
          <a:prstGeom prst="ellipse">
            <a:avLst/>
          </a:prstGeom>
          <a:solidFill>
            <a:srgbClr val="1C7293"/>
          </a:solidFill>
          <a:ln/>
        </p:spPr>
      </p:sp>
      <p:pic>
        <p:nvPicPr>
          <p:cNvPr id="24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29200" y="3511296"/>
            <a:ext cx="320040" cy="320040"/>
          </a:xfrm>
          <a:prstGeom prst="rect">
            <a:avLst/>
          </a:prstGeom>
        </p:spPr>
      </p:pic>
      <p:sp>
        <p:nvSpPr>
          <p:cNvPr id="25" name="Text 19"/>
          <p:cNvSpPr/>
          <p:nvPr/>
        </p:nvSpPr>
        <p:spPr>
          <a:xfrm>
            <a:off x="5577840" y="3383280"/>
            <a:ext cx="2926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Technology</a:t>
            </a:r>
            <a:endParaRPr lang="en-US" sz="1600" dirty="0"/>
          </a:p>
        </p:txBody>
      </p:sp>
      <p:sp>
        <p:nvSpPr>
          <p:cNvPr id="26" name="Text 20"/>
          <p:cNvSpPr/>
          <p:nvPr/>
        </p:nvSpPr>
        <p:spPr>
          <a:xfrm>
            <a:off x="4983480" y="3977640"/>
            <a:ext cx="35204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Edge functions + cellular SMS made &lt;10s cascade affordable at scale. The infra to deliver this is finally here.</a:t>
            </a:r>
            <a:endParaRPr lang="en-US" sz="11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732520" y="228600"/>
            <a:ext cx="164592" cy="164592"/>
          </a:xfrm>
          <a:prstGeom prst="ellipse">
            <a:avLst/>
          </a:prstGeom>
          <a:solidFill>
            <a:srgbClr val="065A82"/>
          </a:solidFill>
          <a:ln/>
        </p:spPr>
      </p:sp>
      <p:sp>
        <p:nvSpPr>
          <p:cNvPr id="3" name="Shape 1"/>
          <p:cNvSpPr/>
          <p:nvPr/>
        </p:nvSpPr>
        <p:spPr>
          <a:xfrm>
            <a:off x="8503920" y="228600"/>
            <a:ext cx="91440" cy="91440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4" name="Shape 2"/>
          <p:cNvSpPr/>
          <p:nvPr/>
        </p:nvSpPr>
        <p:spPr>
          <a:xfrm>
            <a:off x="8348472" y="228600"/>
            <a:ext cx="54864" cy="54864"/>
          </a:xfrm>
          <a:prstGeom prst="ellipse">
            <a:avLst/>
          </a:prstGeom>
          <a:solidFill>
            <a:srgbClr val="9FE7F5"/>
          </a:solidFill>
          <a:ln/>
        </p:spPr>
      </p:sp>
      <p:sp>
        <p:nvSpPr>
          <p:cNvPr id="5" name="Text 3"/>
          <p:cNvSpPr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Target Customers · MENA First</a:t>
            </a:r>
            <a:endParaRPr lang="en-US" sz="3000" dirty="0"/>
          </a:p>
        </p:txBody>
      </p:sp>
      <p:sp>
        <p:nvSpPr>
          <p:cNvPr id="6" name="Text 4"/>
          <p:cNvSpPr/>
          <p:nvPr/>
        </p:nvSpPr>
        <p:spPr>
          <a:xfrm>
            <a:off x="457200" y="91440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Industries where one missed SOS is a business-ending event.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457200" y="1554480"/>
            <a:ext cx="2468880" cy="31089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8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1463040" y="1737360"/>
            <a:ext cx="457200" cy="457200"/>
          </a:xfrm>
          <a:prstGeom prst="ellipse">
            <a:avLst/>
          </a:prstGeom>
          <a:solidFill>
            <a:srgbClr val="065A82"/>
          </a:solidFill>
          <a:ln/>
        </p:spPr>
      </p:sp>
      <p:pic>
        <p:nvPicPr>
          <p:cNvPr id="9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554480" y="1828800"/>
            <a:ext cx="274320" cy="274320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594360" y="2331720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Private Security</a:t>
            </a:r>
            <a:endParaRPr lang="en-US" sz="1500" dirty="0"/>
          </a:p>
        </p:txBody>
      </p:sp>
      <p:sp>
        <p:nvSpPr>
          <p:cNvPr id="11" name="Text 8"/>
          <p:cNvSpPr/>
          <p:nvPr/>
        </p:nvSpPr>
        <p:spPr>
          <a:xfrm>
            <a:off x="640080" y="2743200"/>
            <a:ext cx="21031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Guards, EP details, mobile patrols. Lone-worker exposure is baseline.</a:t>
            </a:r>
            <a:endParaRPr lang="en-US" sz="1100" dirty="0"/>
          </a:p>
        </p:txBody>
      </p:sp>
      <p:sp>
        <p:nvSpPr>
          <p:cNvPr id="12" name="Text 9"/>
          <p:cNvSpPr/>
          <p:nvPr/>
        </p:nvSpPr>
        <p:spPr>
          <a:xfrm>
            <a:off x="594360" y="3611880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Basic + Elite blend</a:t>
            </a:r>
            <a:endParaRPr lang="en-US" sz="1200" dirty="0"/>
          </a:p>
        </p:txBody>
      </p:sp>
      <p:sp>
        <p:nvSpPr>
          <p:cNvPr id="13" name="Text 10"/>
          <p:cNvSpPr/>
          <p:nvPr/>
        </p:nvSpPr>
        <p:spPr>
          <a:xfrm>
            <a:off x="594360" y="3931920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$8 – $24 / seat / mo</a:t>
            </a:r>
            <a:endParaRPr lang="en-US" sz="1800" dirty="0"/>
          </a:p>
        </p:txBody>
      </p:sp>
      <p:sp>
        <p:nvSpPr>
          <p:cNvPr id="14" name="Shape 11"/>
          <p:cNvSpPr/>
          <p:nvPr/>
        </p:nvSpPr>
        <p:spPr>
          <a:xfrm>
            <a:off x="3337560" y="1554480"/>
            <a:ext cx="2468880" cy="31089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8000"/>
              </a:srgbClr>
            </a:outerShdw>
          </a:effectLst>
        </p:spPr>
      </p:sp>
      <p:sp>
        <p:nvSpPr>
          <p:cNvPr id="15" name="Shape 12"/>
          <p:cNvSpPr/>
          <p:nvPr/>
        </p:nvSpPr>
        <p:spPr>
          <a:xfrm>
            <a:off x="4343400" y="1737360"/>
            <a:ext cx="457200" cy="457200"/>
          </a:xfrm>
          <a:prstGeom prst="ellipse">
            <a:avLst/>
          </a:prstGeom>
          <a:solidFill>
            <a:srgbClr val="065A82"/>
          </a:solidFill>
          <a:ln/>
        </p:spPr>
      </p:sp>
      <p:pic>
        <p:nvPicPr>
          <p:cNvPr id="16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34840" y="1828800"/>
            <a:ext cx="274320" cy="274320"/>
          </a:xfrm>
          <a:prstGeom prst="rect">
            <a:avLst/>
          </a:prstGeom>
        </p:spPr>
      </p:pic>
      <p:sp>
        <p:nvSpPr>
          <p:cNvPr id="17" name="Text 13"/>
          <p:cNvSpPr/>
          <p:nvPr/>
        </p:nvSpPr>
        <p:spPr>
          <a:xfrm>
            <a:off x="3474720" y="2331720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Oil &amp; Gas / Heavy Industry</a:t>
            </a:r>
            <a:endParaRPr lang="en-US" sz="1500" dirty="0"/>
          </a:p>
        </p:txBody>
      </p:sp>
      <p:sp>
        <p:nvSpPr>
          <p:cNvPr id="18" name="Text 14"/>
          <p:cNvSpPr/>
          <p:nvPr/>
        </p:nvSpPr>
        <p:spPr>
          <a:xfrm>
            <a:off x="3520440" y="2743200"/>
            <a:ext cx="21031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Field crews on remote sites. Regulatory + insurance pull strong.</a:t>
            </a:r>
            <a:endParaRPr lang="en-US" sz="1100" dirty="0"/>
          </a:p>
        </p:txBody>
      </p:sp>
      <p:sp>
        <p:nvSpPr>
          <p:cNvPr id="19" name="Text 15"/>
          <p:cNvSpPr/>
          <p:nvPr/>
        </p:nvSpPr>
        <p:spPr>
          <a:xfrm>
            <a:off x="3474720" y="3611880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Elite only</a:t>
            </a:r>
            <a:endParaRPr lang="en-US" sz="1200" dirty="0"/>
          </a:p>
        </p:txBody>
      </p:sp>
      <p:sp>
        <p:nvSpPr>
          <p:cNvPr id="20" name="Text 16"/>
          <p:cNvSpPr/>
          <p:nvPr/>
        </p:nvSpPr>
        <p:spPr>
          <a:xfrm>
            <a:off x="3474720" y="3931920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$24 / seat / mo</a:t>
            </a:r>
            <a:endParaRPr lang="en-US" sz="1800" dirty="0"/>
          </a:p>
        </p:txBody>
      </p:sp>
      <p:sp>
        <p:nvSpPr>
          <p:cNvPr id="21" name="Shape 17"/>
          <p:cNvSpPr/>
          <p:nvPr/>
        </p:nvSpPr>
        <p:spPr>
          <a:xfrm>
            <a:off x="6217920" y="1554480"/>
            <a:ext cx="2468880" cy="31089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8000"/>
              </a:srgbClr>
            </a:outerShdw>
          </a:effectLst>
        </p:spPr>
      </p:sp>
      <p:sp>
        <p:nvSpPr>
          <p:cNvPr id="22" name="Shape 18"/>
          <p:cNvSpPr/>
          <p:nvPr/>
        </p:nvSpPr>
        <p:spPr>
          <a:xfrm>
            <a:off x="7223760" y="1737360"/>
            <a:ext cx="457200" cy="457200"/>
          </a:xfrm>
          <a:prstGeom prst="ellipse">
            <a:avLst/>
          </a:prstGeom>
          <a:solidFill>
            <a:srgbClr val="065A82"/>
          </a:solidFill>
          <a:ln/>
        </p:spPr>
      </p:sp>
      <p:pic>
        <p:nvPicPr>
          <p:cNvPr id="23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15200" y="1828800"/>
            <a:ext cx="274320" cy="274320"/>
          </a:xfrm>
          <a:prstGeom prst="rect">
            <a:avLst/>
          </a:prstGeom>
        </p:spPr>
      </p:pic>
      <p:sp>
        <p:nvSpPr>
          <p:cNvPr id="24" name="Text 19"/>
          <p:cNvSpPr/>
          <p:nvPr/>
        </p:nvSpPr>
        <p:spPr>
          <a:xfrm>
            <a:off x="6355080" y="2331720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NGOs in High-Risk Regions</a:t>
            </a:r>
            <a:endParaRPr lang="en-US" sz="1500" dirty="0"/>
          </a:p>
        </p:txBody>
      </p:sp>
      <p:sp>
        <p:nvSpPr>
          <p:cNvPr id="25" name="Text 20"/>
          <p:cNvSpPr/>
          <p:nvPr/>
        </p:nvSpPr>
        <p:spPr>
          <a:xfrm>
            <a:off x="6400800" y="2743200"/>
            <a:ext cx="21031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Aid workers, journalists. Mission impact = brand-tier value.</a:t>
            </a:r>
            <a:endParaRPr lang="en-US" sz="1100" dirty="0"/>
          </a:p>
        </p:txBody>
      </p:sp>
      <p:sp>
        <p:nvSpPr>
          <p:cNvPr id="26" name="Text 21"/>
          <p:cNvSpPr/>
          <p:nvPr/>
        </p:nvSpPr>
        <p:spPr>
          <a:xfrm>
            <a:off x="6355080" y="3611880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Free + Basic</a:t>
            </a:r>
            <a:endParaRPr lang="en-US" sz="1200" dirty="0"/>
          </a:p>
        </p:txBody>
      </p:sp>
      <p:sp>
        <p:nvSpPr>
          <p:cNvPr id="27" name="Text 22"/>
          <p:cNvSpPr/>
          <p:nvPr/>
        </p:nvSpPr>
        <p:spPr>
          <a:xfrm>
            <a:off x="6355080" y="3931920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$0 – $8 / seat / mo</a:t>
            </a:r>
            <a:endParaRPr lang="en-US" sz="1800" dirty="0"/>
          </a:p>
        </p:txBody>
      </p:sp>
      <p:sp>
        <p:nvSpPr>
          <p:cNvPr id="28" name="Text 23"/>
          <p:cNvSpPr/>
          <p:nvPr/>
        </p:nvSpPr>
        <p:spPr>
          <a:xfrm>
            <a:off x="457200" y="480060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Minimum commit: 25 seats · onboarding fee waived for pilot partners.</a:t>
            </a:r>
            <a:endParaRPr lang="en-US" sz="11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21295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371600" y="-914400"/>
            <a:ext cx="2743200" cy="2743200"/>
          </a:xfrm>
          <a:prstGeom prst="ellipse">
            <a:avLst/>
          </a:prstGeom>
          <a:solidFill>
            <a:srgbClr val="065A82">
              <a:alpha val="50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7772400" y="3657600"/>
            <a:ext cx="2286000" cy="2286000"/>
          </a:xfrm>
          <a:prstGeom prst="ellipse">
            <a:avLst/>
          </a:prstGeom>
          <a:solidFill>
            <a:srgbClr val="1C7293">
              <a:alpha val="40000"/>
            </a:srgbClr>
          </a:solidFill>
          <a:ln/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297680" y="365760"/>
            <a:ext cx="548640" cy="54864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457200" y="100584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Pilot Partner Wanted</a:t>
            </a:r>
            <a:endParaRPr lang="en-US" sz="4400" dirty="0"/>
          </a:p>
        </p:txBody>
      </p:sp>
      <p:sp>
        <p:nvSpPr>
          <p:cNvPr id="6" name="Text 3"/>
          <p:cNvSpPr/>
          <p:nvPr/>
        </p:nvSpPr>
        <p:spPr>
          <a:xfrm>
            <a:off x="457200" y="178308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i="1" dirty="0">
                <a:solidFill>
                  <a:srgbClr val="9FE7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We're production-ready. We need a real-world deployment to prove the last mile.</a:t>
            </a:r>
            <a:endParaRPr lang="en-US" sz="1500" dirty="0"/>
          </a:p>
        </p:txBody>
      </p:sp>
      <p:sp>
        <p:nvSpPr>
          <p:cNvPr id="7" name="Shape 4"/>
          <p:cNvSpPr/>
          <p:nvPr/>
        </p:nvSpPr>
        <p:spPr>
          <a:xfrm>
            <a:off x="457200" y="2606040"/>
            <a:ext cx="2468880" cy="1645920"/>
          </a:xfrm>
          <a:prstGeom prst="rect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9FE7F5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594360" y="2743200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30-Day Pilot</a:t>
            </a:r>
            <a:endParaRPr lang="en-US" sz="1600" dirty="0"/>
          </a:p>
        </p:txBody>
      </p:sp>
      <p:sp>
        <p:nvSpPr>
          <p:cNvPr id="9" name="Text 6"/>
          <p:cNvSpPr/>
          <p:nvPr/>
        </p:nvSpPr>
        <p:spPr>
          <a:xfrm>
            <a:off x="640080" y="3200400"/>
            <a:ext cx="210312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FE7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Zero cost. Up to 50 seats. We co-build the deployment + monitor it live.</a:t>
            </a:r>
            <a:endParaRPr lang="en-US" sz="1100" dirty="0"/>
          </a:p>
        </p:txBody>
      </p:sp>
      <p:sp>
        <p:nvSpPr>
          <p:cNvPr id="10" name="Shape 7"/>
          <p:cNvSpPr/>
          <p:nvPr/>
        </p:nvSpPr>
        <p:spPr>
          <a:xfrm>
            <a:off x="3337560" y="2606040"/>
            <a:ext cx="2468880" cy="1645920"/>
          </a:xfrm>
          <a:prstGeom prst="rect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9FE7F5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3474720" y="2743200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6-Month Deployment</a:t>
            </a:r>
            <a:endParaRPr lang="en-US" sz="1600" dirty="0"/>
          </a:p>
        </p:txBody>
      </p:sp>
      <p:sp>
        <p:nvSpPr>
          <p:cNvPr id="12" name="Text 9"/>
          <p:cNvSpPr/>
          <p:nvPr/>
        </p:nvSpPr>
        <p:spPr>
          <a:xfrm>
            <a:off x="3520440" y="3200400"/>
            <a:ext cx="210312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FE7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Basic tier at 50% off the price card. Direct founder support + monthly review.</a:t>
            </a:r>
            <a:endParaRPr lang="en-US" sz="1100" dirty="0"/>
          </a:p>
        </p:txBody>
      </p:sp>
      <p:sp>
        <p:nvSpPr>
          <p:cNvPr id="13" name="Shape 10"/>
          <p:cNvSpPr/>
          <p:nvPr/>
        </p:nvSpPr>
        <p:spPr>
          <a:xfrm>
            <a:off x="6217920" y="2606040"/>
            <a:ext cx="2468880" cy="1645920"/>
          </a:xfrm>
          <a:prstGeom prst="rect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9FE7F5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6355080" y="2743200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Strategic Partner</a:t>
            </a:r>
            <a:endParaRPr lang="en-US" sz="1600" dirty="0"/>
          </a:p>
        </p:txBody>
      </p:sp>
      <p:sp>
        <p:nvSpPr>
          <p:cNvPr id="15" name="Text 12"/>
          <p:cNvSpPr/>
          <p:nvPr/>
        </p:nvSpPr>
        <p:spPr>
          <a:xfrm>
            <a:off x="6400800" y="3200400"/>
            <a:ext cx="210312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FE7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Channel, regional reseller, or vertical-specific co-investment.</a:t>
            </a:r>
            <a:endParaRPr lang="en-US" sz="1100" dirty="0"/>
          </a:p>
        </p:txBody>
      </p:sp>
      <p:sp>
        <p:nvSpPr>
          <p:cNvPr id="16" name="Text 13"/>
          <p:cNvSpPr/>
          <p:nvPr/>
        </p:nvSpPr>
        <p:spPr>
          <a:xfrm>
            <a:off x="457200" y="457200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fadihadi06@gmail.com  ·  sosphere-platform.vercel.app</a:t>
            </a:r>
            <a:endParaRPr lang="en-US" sz="13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SOSphere — Life-Safety Infrastructure</dc:title>
  <dc:subject>PptxGenJS Presentation</dc:subject>
  <dc:creator>Fadi Hadi</dc:creator>
  <cp:lastModifiedBy>Fadi Hadi</cp:lastModifiedBy>
  <cp:revision>1</cp:revision>
  <dcterms:created xsi:type="dcterms:W3CDTF">2026-05-12T21:02:43Z</dcterms:created>
  <dcterms:modified xsi:type="dcterms:W3CDTF">2026-05-12T21:02:43Z</dcterms:modified>
</cp:coreProperties>
</file>